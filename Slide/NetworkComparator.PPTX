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9" r:id="rId4"/>
    <p:sldId id="260" r:id="rId5"/>
    <p:sldId id="261" r:id="rId6"/>
    <p:sldId id="262" r:id="rId7"/>
    <p:sldId id="263" r:id="rId8"/>
    <p:sldId id="264" r:id="rId9"/>
    <p:sldId id="265" r:id="rId10"/>
    <p:sldId id="267" r:id="rId11"/>
    <p:sldId id="268" r:id="rId12"/>
    <p:sldId id="269" r:id="rId13"/>
    <p:sldId id="270" r:id="rId14"/>
    <p:sldId id="278" r:id="rId15"/>
    <p:sldId id="279" r:id="rId16"/>
    <p:sldId id="277" r:id="rId17"/>
    <p:sldId id="271" r:id="rId18"/>
    <p:sldId id="272" r:id="rId19"/>
    <p:sldId id="273" r:id="rId20"/>
    <p:sldId id="274" r:id="rId21"/>
    <p:sldId id="275" r:id="rId22"/>
    <p:sldId id="280" r:id="rId23"/>
    <p:sldId id="281" r:id="rId24"/>
    <p:sldId id="282" r:id="rId25"/>
    <p:sldId id="283" r:id="rId26"/>
    <p:sldId id="284" r:id="rId27"/>
    <p:sldId id="276" r:id="rId28"/>
    <p:sldId id="285" r:id="rId29"/>
    <p:sldId id="286" r:id="rId30"/>
    <p:sldId id="258" r:id="rId31"/>
  </p:sldIdLst>
  <p:sldSz cx="9906000" cy="6858000" type="A4"/>
  <p:notesSz cx="6858000" cy="9144000"/>
  <p:defaultTextStyle>
    <a:defPPr>
      <a:defRPr lang="it-IT"/>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24"/>
    <p:restoredTop sz="94632"/>
  </p:normalViewPr>
  <p:slideViewPr>
    <p:cSldViewPr>
      <p:cViewPr varScale="1">
        <p:scale>
          <a:sx n="154" d="100"/>
          <a:sy n="154" d="100"/>
        </p:scale>
        <p:origin x="1446" y="108"/>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742950" y="2130426"/>
            <a:ext cx="8420100" cy="1470025"/>
          </a:xfrm>
        </p:spPr>
        <p:txBody>
          <a:bodyPr/>
          <a:lstStyle/>
          <a:p>
            <a:r>
              <a:rPr lang="it-IT"/>
              <a:t>Fare clic per modificare lo stile del titolo</a:t>
            </a:r>
          </a:p>
        </p:txBody>
      </p:sp>
      <p:sp>
        <p:nvSpPr>
          <p:cNvPr id="3" name="Sottotitolo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lvl1pPr>
              <a:defRPr/>
            </a:lvl1pPr>
          </a:lstStyle>
          <a:p>
            <a:pPr>
              <a:defRPr/>
            </a:pPr>
            <a:fld id="{B568B102-738A-4C1F-8ABA-CC7D1A1FFAE1}" type="datetimeFigureOut">
              <a:rPr lang="it-IT"/>
              <a:pPr>
                <a:defRPr/>
              </a:pPr>
              <a:t>19/01/2022</a:t>
            </a:fld>
            <a:endParaRPr lang="it-IT"/>
          </a:p>
        </p:txBody>
      </p:sp>
      <p:sp>
        <p:nvSpPr>
          <p:cNvPr id="5" name="Segnaposto piè di pagina 4"/>
          <p:cNvSpPr>
            <a:spLocks noGrp="1"/>
          </p:cNvSpPr>
          <p:nvPr>
            <p:ph type="ftr" sz="quarter" idx="11"/>
          </p:nvPr>
        </p:nvSpPr>
        <p:spPr/>
        <p:txBody>
          <a:bodyPr/>
          <a:lstStyle>
            <a:lvl1pPr>
              <a:defRPr/>
            </a:lvl1pPr>
          </a:lstStyle>
          <a:p>
            <a:pPr>
              <a:defRPr/>
            </a:pPr>
            <a:endParaRPr lang="it-IT"/>
          </a:p>
        </p:txBody>
      </p:sp>
      <p:sp>
        <p:nvSpPr>
          <p:cNvPr id="6" name="Segnaposto numero diapositiva 5"/>
          <p:cNvSpPr>
            <a:spLocks noGrp="1"/>
          </p:cNvSpPr>
          <p:nvPr>
            <p:ph type="sldNum" sz="quarter" idx="12"/>
          </p:nvPr>
        </p:nvSpPr>
        <p:spPr/>
        <p:txBody>
          <a:bodyPr/>
          <a:lstStyle>
            <a:lvl1pPr>
              <a:defRPr/>
            </a:lvl1pPr>
          </a:lstStyle>
          <a:p>
            <a:pPr>
              <a:defRPr/>
            </a:pPr>
            <a:fld id="{6F682588-3788-4C0B-96BF-245F16065C21}" type="slidenum">
              <a:rPr lang="it-IT" altLang="it-IT"/>
              <a:pPr>
                <a:defRPr/>
              </a:pPr>
              <a:t>‹N›</a:t>
            </a:fld>
            <a:endParaRPr lang="it-IT" altLang="it-IT"/>
          </a:p>
        </p:txBody>
      </p:sp>
    </p:spTree>
    <p:extLst>
      <p:ext uri="{BB962C8B-B14F-4D97-AF65-F5344CB8AC3E}">
        <p14:creationId xmlns:p14="http://schemas.microsoft.com/office/powerpoint/2010/main" val="146335638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Segnaposto titolo 1"/>
          <p:cNvSpPr>
            <a:spLocks noGrp="1"/>
          </p:cNvSpPr>
          <p:nvPr>
            <p:ph type="title"/>
          </p:nvPr>
        </p:nvSpPr>
        <p:spPr bwMode="auto">
          <a:xfrm>
            <a:off x="495300" y="274638"/>
            <a:ext cx="8915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it-IT" altLang="it-IT"/>
              <a:t>Fare clic per modificare lo stile del titolo</a:t>
            </a:r>
          </a:p>
        </p:txBody>
      </p:sp>
      <p:sp>
        <p:nvSpPr>
          <p:cNvPr id="1027" name="Segnaposto testo 2"/>
          <p:cNvSpPr>
            <a:spLocks noGrp="1"/>
          </p:cNvSpPr>
          <p:nvPr>
            <p:ph type="body" idx="1"/>
          </p:nvPr>
        </p:nvSpPr>
        <p:spPr bwMode="auto">
          <a:xfrm>
            <a:off x="495300" y="1600201"/>
            <a:ext cx="8915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a:t>Fare clic per modificare stili del testo dello schema</a:t>
            </a:r>
          </a:p>
          <a:p>
            <a:pPr lvl="1"/>
            <a:r>
              <a:rPr lang="it-IT" altLang="it-IT"/>
              <a:t>Secondo livello</a:t>
            </a:r>
          </a:p>
          <a:p>
            <a:pPr lvl="2"/>
            <a:r>
              <a:rPr lang="it-IT" altLang="it-IT"/>
              <a:t>Terzo livello</a:t>
            </a:r>
          </a:p>
          <a:p>
            <a:pPr lvl="3"/>
            <a:r>
              <a:rPr lang="it-IT" altLang="it-IT"/>
              <a:t>Quarto livello</a:t>
            </a:r>
          </a:p>
          <a:p>
            <a:pPr lvl="4"/>
            <a:r>
              <a:rPr lang="it-IT" altLang="it-IT"/>
              <a:t>Quinto livello</a:t>
            </a:r>
          </a:p>
        </p:txBody>
      </p:sp>
      <p:sp>
        <p:nvSpPr>
          <p:cNvPr id="4" name="Segnaposto data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8EBD2540-6D91-4F8C-87E4-748D5AE1958C}" type="datetimeFigureOut">
              <a:rPr lang="it-IT"/>
              <a:pPr>
                <a:defRPr/>
              </a:pPr>
              <a:t>19/01/2022</a:t>
            </a:fld>
            <a:endParaRPr lang="it-IT"/>
          </a:p>
        </p:txBody>
      </p:sp>
      <p:sp>
        <p:nvSpPr>
          <p:cNvPr id="5" name="Segnaposto piè di pagina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it-IT"/>
          </a:p>
        </p:txBody>
      </p:sp>
      <p:sp>
        <p:nvSpPr>
          <p:cNvPr id="6" name="Segnaposto numero diapositiva 5"/>
          <p:cNvSpPr>
            <a:spLocks noGrp="1"/>
          </p:cNvSpPr>
          <p:nvPr>
            <p:ph type="sldNum" sz="quarter" idx="4"/>
          </p:nvPr>
        </p:nvSpPr>
        <p:spPr>
          <a:xfrm>
            <a:off x="7099300" y="6356351"/>
            <a:ext cx="2311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44F74506-008D-4870-91BB-6E967637A631}" type="slidenum">
              <a:rPr lang="it-IT" altLang="it-IT"/>
              <a:pPr>
                <a:defRPr/>
              </a:pPr>
              <a:t>‹N›</a:t>
            </a:fld>
            <a:endParaRPr lang="it-IT" altLang="it-IT"/>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about:blank" TargetMode="Externa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5" Type="http://schemas.openxmlformats.org/officeDocument/2006/relationships/hyperlink" Target="about:blank" TargetMode="External"/><Relationship Id="rId4" Type="http://schemas.openxmlformats.org/officeDocument/2006/relationships/hyperlink" Target="Run/primo_run_enorme.ipynb"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Run/primo_run_enorme.ipynb"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hyperlink" Target="about:blank" TargetMode="External"/><Relationship Id="rId4" Type="http://schemas.openxmlformats.org/officeDocument/2006/relationships/hyperlink" Target="Run/primo_run_enorme.ipynb"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jpe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hyperlink" Target="Run/primo_run_enorme.ipynb" TargetMode="External"/><Relationship Id="rId4" Type="http://schemas.openxmlformats.org/officeDocument/2006/relationships/hyperlink" Target="about:blank"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hyperlink" Target="about:blank"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hyperlink" Target="Run/primo_run_enorme.ipynb"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hyperlink" Target="Run/primo_run_enorme.ipynb"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hyperlink" Target="Run/primo_run_enorme.ipynb"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hyperlink" Target="Run/primo_run_enorme.ipynb"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hyperlink" Target="Run/primo_run_enorme.ipynb"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hyperlink" Target="about:blank"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hyperlink" Target="Run/primo_run_enorme.ipynb"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hyperlink" Target="Run/primo_run_enorme.ipynb" TargetMode="Externa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p:cNvSpPr/>
          <p:nvPr/>
        </p:nvSpPr>
        <p:spPr>
          <a:xfrm>
            <a:off x="0" y="0"/>
            <a:ext cx="9906000" cy="6858000"/>
          </a:xfrm>
          <a:prstGeom prst="rect">
            <a:avLst/>
          </a:prstGeom>
          <a:solidFill>
            <a:srgbClr val="213D7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it-IT" sz="1350"/>
          </a:p>
        </p:txBody>
      </p:sp>
      <p:pic>
        <p:nvPicPr>
          <p:cNvPr id="2" name="Immagin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004" y="2510775"/>
            <a:ext cx="4419992" cy="1836450"/>
          </a:xfrm>
          <a:prstGeom prst="rect">
            <a:avLst/>
          </a:prstGeom>
        </p:spPr>
      </p:pic>
    </p:spTree>
    <p:extLst>
      <p:ext uri="{BB962C8B-B14F-4D97-AF65-F5344CB8AC3E}">
        <p14:creationId xmlns:p14="http://schemas.microsoft.com/office/powerpoint/2010/main" val="2287690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ttangolo 4"/>
          <p:cNvSpPr>
            <a:spLocks noChangeArrowheads="1"/>
          </p:cNvSpPr>
          <p:nvPr/>
        </p:nvSpPr>
        <p:spPr bwMode="auto">
          <a:xfrm>
            <a:off x="308200" y="3872661"/>
            <a:ext cx="9289602"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defRPr/>
            </a:pPr>
            <a:r>
              <a:rPr lang="it-IT" altLang="it-IT" sz="4000" cap="small" dirty="0">
                <a:latin typeface="Times New Roman" panose="02020603050405020304" pitchFamily="18" charset="0"/>
                <a:cs typeface="Times New Roman" panose="02020603050405020304" pitchFamily="18" charset="0"/>
              </a:rPr>
              <a:t>Network </a:t>
            </a:r>
            <a:r>
              <a:rPr lang="it-IT" altLang="it-IT" sz="4000" cap="small" dirty="0" err="1">
                <a:latin typeface="Times New Roman" panose="02020603050405020304" pitchFamily="18" charset="0"/>
                <a:cs typeface="Times New Roman" panose="02020603050405020304" pitchFamily="18" charset="0"/>
              </a:rPr>
              <a:t>Comparator</a:t>
            </a:r>
            <a:r>
              <a:rPr lang="it-IT" altLang="it-IT" sz="4000" cap="small" dirty="0">
                <a:latin typeface="Times New Roman" panose="02020603050405020304" pitchFamily="18" charset="0"/>
                <a:cs typeface="Times New Roman" panose="02020603050405020304" pitchFamily="18" charset="0"/>
              </a:rPr>
              <a:t> </a:t>
            </a:r>
            <a:endParaRPr lang="it-IT" altLang="it-IT" sz="4000" dirty="0">
              <a:latin typeface="Times New Roman" panose="02020603050405020304" pitchFamily="18" charset="0"/>
              <a:cs typeface="Times New Roman" panose="02020603050405020304" pitchFamily="18" charset="0"/>
            </a:endParaRPr>
          </a:p>
          <a:p>
            <a:pPr algn="ctr" eaLnBrk="1" hangingPunct="1">
              <a:spcBef>
                <a:spcPct val="0"/>
              </a:spcBef>
              <a:buFontTx/>
              <a:buNone/>
              <a:defRPr/>
            </a:pPr>
            <a:endParaRPr lang="it-IT" altLang="it-IT" sz="1800" dirty="0">
              <a:latin typeface="Times New Roman" panose="02020603050405020304" pitchFamily="18" charset="0"/>
              <a:cs typeface="Times New Roman" panose="02020603050405020304" pitchFamily="18" charset="0"/>
            </a:endParaRPr>
          </a:p>
        </p:txBody>
      </p:sp>
      <p:graphicFrame>
        <p:nvGraphicFramePr>
          <p:cNvPr id="2" name="Tabella 1"/>
          <p:cNvGraphicFramePr>
            <a:graphicFrameLocks noGrp="1"/>
          </p:cNvGraphicFramePr>
          <p:nvPr/>
        </p:nvGraphicFramePr>
        <p:xfrm>
          <a:off x="776289" y="404814"/>
          <a:ext cx="8353425" cy="244475"/>
        </p:xfrm>
        <a:graphic>
          <a:graphicData uri="http://schemas.openxmlformats.org/drawingml/2006/table">
            <a:tbl>
              <a:tblPr firstRow="1" firstCol="1" bandRow="1">
                <a:tableStyleId>{5C22544A-7EE6-4342-B048-85BDC9FD1C3A}</a:tableStyleId>
              </a:tblPr>
              <a:tblGrid>
                <a:gridCol w="1937544">
                  <a:extLst>
                    <a:ext uri="{9D8B030D-6E8A-4147-A177-3AD203B41FA5}">
                      <a16:colId xmlns:a16="http://schemas.microsoft.com/office/drawing/2014/main" val="20000"/>
                    </a:ext>
                  </a:extLst>
                </a:gridCol>
                <a:gridCol w="6415881">
                  <a:extLst>
                    <a:ext uri="{9D8B030D-6E8A-4147-A177-3AD203B41FA5}">
                      <a16:colId xmlns:a16="http://schemas.microsoft.com/office/drawing/2014/main" val="20001"/>
                    </a:ext>
                  </a:extLst>
                </a:gridCol>
              </a:tblGrid>
              <a:tr h="244475">
                <a:tc>
                  <a:txBody>
                    <a:bodyPr/>
                    <a:lstStyle/>
                    <a:p>
                      <a:pPr>
                        <a:spcAft>
                          <a:spcPts val="0"/>
                        </a:spcAft>
                      </a:pPr>
                      <a:endParaRPr lang="it-IT"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4" marR="68584"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spcAft>
                          <a:spcPts val="0"/>
                        </a:spcAft>
                      </a:pPr>
                      <a:endParaRPr lang="it-IT" sz="12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4" marR="68584"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pic>
        <p:nvPicPr>
          <p:cNvPr id="1026" name="Picture 2" descr="Unife_nero 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6289" y="527051"/>
            <a:ext cx="2836291" cy="124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magine 5">
            <a:extLst>
              <a:ext uri="{FF2B5EF4-FFF2-40B4-BE49-F238E27FC236}">
                <a16:creationId xmlns:a16="http://schemas.microsoft.com/office/drawing/2014/main" id="{331EB2E4-B537-7A40-AAD8-621A2F16D2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5088" y="733254"/>
            <a:ext cx="3541678" cy="849405"/>
          </a:xfrm>
          <a:prstGeom prst="rect">
            <a:avLst/>
          </a:prstGeom>
        </p:spPr>
      </p:pic>
      <p:sp>
        <p:nvSpPr>
          <p:cNvPr id="4" name="CasellaDiTesto 3">
            <a:extLst>
              <a:ext uri="{FF2B5EF4-FFF2-40B4-BE49-F238E27FC236}">
                <a16:creationId xmlns:a16="http://schemas.microsoft.com/office/drawing/2014/main" id="{6319F26A-0172-AD4B-A949-00707F7717B7}"/>
              </a:ext>
            </a:extLst>
          </p:cNvPr>
          <p:cNvSpPr txBox="1"/>
          <p:nvPr/>
        </p:nvSpPr>
        <p:spPr>
          <a:xfrm>
            <a:off x="2576736" y="2493467"/>
            <a:ext cx="5472608" cy="400110"/>
          </a:xfrm>
          <a:prstGeom prst="rect">
            <a:avLst/>
          </a:prstGeom>
          <a:noFill/>
        </p:spPr>
        <p:txBody>
          <a:bodyPr wrap="square" rtlCol="0">
            <a:spAutoFit/>
          </a:bodyPr>
          <a:lstStyle/>
          <a:p>
            <a:r>
              <a:rPr lang="it-IT" sz="2000" dirty="0">
                <a:latin typeface="Times New Roman" panose="02020603050405020304" pitchFamily="18" charset="0"/>
                <a:cs typeface="Times New Roman" panose="02020603050405020304" pitchFamily="18" charset="0"/>
              </a:rPr>
              <a:t>Luca</a:t>
            </a:r>
            <a:r>
              <a:rPr lang="it-IT" dirty="0"/>
              <a:t> </a:t>
            </a:r>
            <a:r>
              <a:rPr lang="it-IT" sz="2000" dirty="0" err="1">
                <a:latin typeface="Times New Roman" panose="02020603050405020304" pitchFamily="18" charset="0"/>
                <a:cs typeface="Times New Roman" panose="02020603050405020304" pitchFamily="18" charset="0"/>
              </a:rPr>
              <a:t>Paulon</a:t>
            </a:r>
            <a:r>
              <a:rPr lang="it-IT" sz="2000" dirty="0">
                <a:latin typeface="Times New Roman" panose="02020603050405020304" pitchFamily="18" charset="0"/>
                <a:cs typeface="Times New Roman" panose="02020603050405020304" pitchFamily="18" charset="0"/>
              </a:rPr>
              <a:t> 179582  Matteo Bassani 181175</a:t>
            </a:r>
          </a:p>
        </p:txBody>
      </p:sp>
      <p:sp>
        <p:nvSpPr>
          <p:cNvPr id="8" name="Rettangolo 4">
            <a:extLst>
              <a:ext uri="{FF2B5EF4-FFF2-40B4-BE49-F238E27FC236}">
                <a16:creationId xmlns:a16="http://schemas.microsoft.com/office/drawing/2014/main" id="{032DC187-3FBF-BC40-986F-941AF400B973}"/>
              </a:ext>
            </a:extLst>
          </p:cNvPr>
          <p:cNvSpPr>
            <a:spLocks noChangeArrowheads="1"/>
          </p:cNvSpPr>
          <p:nvPr/>
        </p:nvSpPr>
        <p:spPr bwMode="auto">
          <a:xfrm>
            <a:off x="282078" y="3137677"/>
            <a:ext cx="9289602"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defRPr/>
            </a:pPr>
            <a:r>
              <a:rPr lang="it-IT" altLang="it-IT" sz="2800" cap="small" dirty="0" err="1">
                <a:latin typeface="Times New Roman" panose="02020603050405020304" pitchFamily="18" charset="0"/>
                <a:cs typeface="Times New Roman" panose="02020603050405020304" pitchFamily="18" charset="0"/>
              </a:rPr>
              <a:t>Deep</a:t>
            </a:r>
            <a:r>
              <a:rPr lang="it-IT" altLang="it-IT" sz="2800" cap="small" dirty="0">
                <a:latin typeface="Times New Roman" panose="02020603050405020304" pitchFamily="18" charset="0"/>
                <a:cs typeface="Times New Roman" panose="02020603050405020304" pitchFamily="18" charset="0"/>
              </a:rPr>
              <a:t> </a:t>
            </a:r>
            <a:r>
              <a:rPr lang="it-IT" altLang="it-IT" sz="2800" cap="small" dirty="0" err="1">
                <a:latin typeface="Times New Roman" panose="02020603050405020304" pitchFamily="18" charset="0"/>
                <a:cs typeface="Times New Roman" panose="02020603050405020304" pitchFamily="18" charset="0"/>
              </a:rPr>
              <a:t>learnign</a:t>
            </a:r>
            <a:r>
              <a:rPr lang="it-IT" altLang="it-IT" sz="2800" cap="small" dirty="0">
                <a:latin typeface="Times New Roman" panose="02020603050405020304" pitchFamily="18" charset="0"/>
                <a:cs typeface="Times New Roman" panose="02020603050405020304" pitchFamily="18" charset="0"/>
              </a:rPr>
              <a:t> </a:t>
            </a:r>
            <a:r>
              <a:rPr lang="it-IT" altLang="it-IT" sz="2800" cap="small" dirty="0" err="1">
                <a:latin typeface="Times New Roman" panose="02020603050405020304" pitchFamily="18" charset="0"/>
                <a:cs typeface="Times New Roman" panose="02020603050405020304" pitchFamily="18" charset="0"/>
              </a:rPr>
              <a:t>project</a:t>
            </a:r>
            <a:r>
              <a:rPr lang="it-IT" altLang="it-IT" sz="2800" cap="small" dirty="0">
                <a:latin typeface="Times New Roman" panose="02020603050405020304" pitchFamily="18" charset="0"/>
                <a:cs typeface="Times New Roman" panose="02020603050405020304" pitchFamily="18" charset="0"/>
              </a:rPr>
              <a:t>:</a:t>
            </a:r>
            <a:endParaRPr lang="it-IT" altLang="it-IT" sz="2800" dirty="0">
              <a:latin typeface="Times New Roman" panose="02020603050405020304" pitchFamily="18" charset="0"/>
              <a:cs typeface="Times New Roman" panose="02020603050405020304" pitchFamily="18" charset="0"/>
            </a:endParaRPr>
          </a:p>
          <a:p>
            <a:pPr algn="ctr" eaLnBrk="1" hangingPunct="1">
              <a:spcBef>
                <a:spcPct val="0"/>
              </a:spcBef>
              <a:buFontTx/>
              <a:buNone/>
              <a:defRPr/>
            </a:pPr>
            <a:endParaRPr lang="it-IT" altLang="it-IT" sz="1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04528" y="908720"/>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Obiettivi del progetto</a:t>
            </a:r>
          </a:p>
        </p:txBody>
      </p:sp>
      <p:sp>
        <p:nvSpPr>
          <p:cNvPr id="5" name="CasellaDiTesto 4">
            <a:extLst>
              <a:ext uri="{FF2B5EF4-FFF2-40B4-BE49-F238E27FC236}">
                <a16:creationId xmlns:a16="http://schemas.microsoft.com/office/drawing/2014/main" id="{9C6831CD-CC26-3340-AF33-450317433BCD}"/>
              </a:ext>
            </a:extLst>
          </p:cNvPr>
          <p:cNvSpPr txBox="1"/>
          <p:nvPr/>
        </p:nvSpPr>
        <p:spPr>
          <a:xfrm>
            <a:off x="366436" y="1556792"/>
            <a:ext cx="9019377" cy="4801314"/>
          </a:xfrm>
          <a:prstGeom prst="rect">
            <a:avLst/>
          </a:prstGeom>
          <a:noFill/>
        </p:spPr>
        <p:txBody>
          <a:bodyPr wrap="square" rtlCol="0">
            <a:spAutoFit/>
          </a:bodyPr>
          <a:lstStyle/>
          <a:p>
            <a:pPr marL="285750"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Automatizzare il più possibile l'addestramento e il </a:t>
            </a:r>
            <a:r>
              <a:rPr lang="it-IT" dirty="0" err="1">
                <a:latin typeface="Times New Roman" panose="02020603050405020304" pitchFamily="18" charset="0"/>
                <a:cs typeface="Times New Roman" panose="02020603050405020304" pitchFamily="18" charset="0"/>
              </a:rPr>
              <a:t>testing</a:t>
            </a:r>
            <a:r>
              <a:rPr lang="it-IT" dirty="0">
                <a:latin typeface="Times New Roman" panose="02020603050405020304" pitchFamily="18" charset="0"/>
                <a:cs typeface="Times New Roman" panose="02020603050405020304" pitchFamily="18" charset="0"/>
              </a:rPr>
              <a:t> di diverse reti neurali sul </a:t>
            </a:r>
            <a:r>
              <a:rPr lang="it-IT" b="1" dirty="0" err="1">
                <a:latin typeface="Times New Roman" panose="02020603050405020304" pitchFamily="18" charset="0"/>
                <a:cs typeface="Times New Roman" panose="02020603050405020304" pitchFamily="18" charset="0"/>
              </a:rPr>
              <a:t>dataset</a:t>
            </a:r>
            <a:r>
              <a:rPr lang="it-IT" dirty="0">
                <a:latin typeface="Times New Roman" panose="02020603050405020304" pitchFamily="18" charset="0"/>
                <a:cs typeface="Times New Roman" panose="02020603050405020304" pitchFamily="18" charset="0"/>
              </a:rPr>
              <a:t> </a:t>
            </a:r>
            <a:r>
              <a:rPr lang="it-IT" b="1" dirty="0">
                <a:latin typeface="Times New Roman" panose="02020603050405020304" pitchFamily="18" charset="0"/>
                <a:cs typeface="Times New Roman" panose="02020603050405020304" pitchFamily="18" charset="0"/>
              </a:rPr>
              <a:t>GTSRB</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German</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Traffic</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Sign</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Recognition</a:t>
            </a:r>
            <a:r>
              <a:rPr lang="it-IT" dirty="0">
                <a:latin typeface="Times New Roman" panose="02020603050405020304" pitchFamily="18" charset="0"/>
                <a:cs typeface="Times New Roman" panose="02020603050405020304" pitchFamily="18" charset="0"/>
              </a:rPr>
              <a:t> Benchmark)</a:t>
            </a:r>
          </a:p>
          <a:p>
            <a:pPr marL="285750"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Confronto di performance dei diversi modelli neurali con differenti set di </a:t>
            </a:r>
            <a:r>
              <a:rPr lang="it-IT" dirty="0" err="1">
                <a:latin typeface="Times New Roman" panose="02020603050405020304" pitchFamily="18" charset="0"/>
                <a:cs typeface="Times New Roman" panose="02020603050405020304" pitchFamily="18" charset="0"/>
              </a:rPr>
              <a:t>iperparametri</a:t>
            </a:r>
            <a:endParaRPr lang="it-IT"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Selezione delle tipologie che forniscono risultati migliori</a:t>
            </a:r>
          </a:p>
          <a:p>
            <a:pPr marL="285750"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Utilizzo di Data </a:t>
            </a:r>
            <a:r>
              <a:rPr lang="it-IT" dirty="0" err="1">
                <a:latin typeface="Times New Roman" panose="02020603050405020304" pitchFamily="18" charset="0"/>
                <a:cs typeface="Times New Roman" panose="02020603050405020304" pitchFamily="18" charset="0"/>
              </a:rPr>
              <a:t>Augmentation</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RandomFlip</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RandomRotation</a:t>
            </a:r>
            <a:r>
              <a:rPr lang="it-IT" dirty="0">
                <a:latin typeface="Times New Roman" panose="02020603050405020304" pitchFamily="18" charset="0"/>
                <a:cs typeface="Times New Roman" panose="02020603050405020304" pitchFamily="18" charset="0"/>
              </a:rPr>
              <a:t>) per incrementare dimensione del training set</a:t>
            </a:r>
          </a:p>
          <a:p>
            <a:pPr marL="285750"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Addestramento e </a:t>
            </a:r>
            <a:r>
              <a:rPr lang="it-IT" dirty="0" err="1">
                <a:latin typeface="Times New Roman" panose="02020603050405020304" pitchFamily="18" charset="0"/>
                <a:cs typeface="Times New Roman" panose="02020603050405020304" pitchFamily="18" charset="0"/>
              </a:rPr>
              <a:t>testing</a:t>
            </a:r>
            <a:r>
              <a:rPr lang="it-IT" dirty="0">
                <a:latin typeface="Times New Roman" panose="02020603050405020304" pitchFamily="18" charset="0"/>
                <a:cs typeface="Times New Roman" panose="02020603050405020304" pitchFamily="18" charset="0"/>
              </a:rPr>
              <a:t> dei seguenti modelli con tecniche di </a:t>
            </a:r>
            <a:r>
              <a:rPr lang="it-IT" b="1" dirty="0">
                <a:latin typeface="Times New Roman" panose="02020603050405020304" pitchFamily="18" charset="0"/>
                <a:cs typeface="Times New Roman" panose="02020603050405020304" pitchFamily="18" charset="0"/>
              </a:rPr>
              <a:t>Transfer Learning:</a:t>
            </a:r>
            <a:endParaRPr lang="it-IT"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Vgg16</a:t>
            </a:r>
          </a:p>
          <a:p>
            <a:pPr marL="742950" lvl="1"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Vgg19</a:t>
            </a:r>
          </a:p>
          <a:p>
            <a:pPr marL="742950" lvl="1"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ResNet50V2</a:t>
            </a:r>
          </a:p>
          <a:p>
            <a:pPr marL="742950" lvl="1"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InceptionV3</a:t>
            </a:r>
          </a:p>
          <a:p>
            <a:pPr marL="742950" lvl="1" indent="-285750">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Modelli custom: </a:t>
            </a:r>
            <a:r>
              <a:rPr lang="it-IT" dirty="0" err="1">
                <a:latin typeface="Times New Roman" panose="02020603050405020304" pitchFamily="18" charset="0"/>
                <a:cs typeface="Times New Roman" panose="02020603050405020304" pitchFamily="18" charset="0"/>
              </a:rPr>
              <a:t>MyNetwork</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NyNetworkDeeper</a:t>
            </a:r>
            <a:endParaRPr lang="it-IT"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pPr lvl="1"/>
            <a:endParaRPr lang="it-IT" dirty="0">
              <a:latin typeface="Times New Roman" panose="02020603050405020304" pitchFamily="18" charset="0"/>
              <a:cs typeface="Times New Roman" panose="02020603050405020304" pitchFamily="18" charset="0"/>
            </a:endParaRPr>
          </a:p>
          <a:p>
            <a:br>
              <a:rPr lang="it-IT" dirty="0"/>
            </a:br>
            <a:endParaRPr lang="it-IT" dirty="0"/>
          </a:p>
          <a:p>
            <a:endParaRPr lang="it-IT" dirty="0"/>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206588"/>
            <a:ext cx="2215221" cy="554666"/>
          </a:xfrm>
          <a:prstGeom prst="rect">
            <a:avLst/>
          </a:prstGeom>
        </p:spPr>
      </p:pic>
    </p:spTree>
    <p:extLst>
      <p:ext uri="{BB962C8B-B14F-4D97-AF65-F5344CB8AC3E}">
        <p14:creationId xmlns:p14="http://schemas.microsoft.com/office/powerpoint/2010/main" val="565030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Analisi </a:t>
            </a:r>
            <a:r>
              <a:rPr lang="it-IT" sz="3200" cap="small" dirty="0" err="1">
                <a:latin typeface="Times New Roman" panose="02020603050405020304" pitchFamily="18" charset="0"/>
                <a:ea typeface="+mn-ea"/>
                <a:cs typeface="Times New Roman" panose="02020603050405020304" pitchFamily="18" charset="0"/>
              </a:rPr>
              <a:t>dataset</a:t>
            </a:r>
            <a:endParaRPr lang="it-IT" sz="3200" cap="small" dirty="0">
              <a:latin typeface="Times New Roman" panose="02020603050405020304" pitchFamily="18" charset="0"/>
              <a:ea typeface="+mn-ea"/>
              <a:cs typeface="Times New Roman" panose="02020603050405020304" pitchFamily="18" charset="0"/>
            </a:endParaRPr>
          </a:p>
        </p:txBody>
      </p:sp>
      <p:sp>
        <p:nvSpPr>
          <p:cNvPr id="5" name="CasellaDiTesto 4">
            <a:extLst>
              <a:ext uri="{FF2B5EF4-FFF2-40B4-BE49-F238E27FC236}">
                <a16:creationId xmlns:a16="http://schemas.microsoft.com/office/drawing/2014/main" id="{9C6831CD-CC26-3340-AF33-450317433BCD}"/>
              </a:ext>
            </a:extLst>
          </p:cNvPr>
          <p:cNvSpPr txBox="1"/>
          <p:nvPr/>
        </p:nvSpPr>
        <p:spPr>
          <a:xfrm>
            <a:off x="398119" y="1484784"/>
            <a:ext cx="9218374" cy="5632311"/>
          </a:xfrm>
          <a:prstGeom prst="rect">
            <a:avLst/>
          </a:prstGeom>
          <a:noFill/>
        </p:spPr>
        <p:txBody>
          <a:bodyPr wrap="square" rtlCol="0">
            <a:spAutoFit/>
          </a:bodyPr>
          <a:lstStyle/>
          <a:p>
            <a:pPr algn="just"/>
            <a:r>
              <a:rPr lang="it-IT" dirty="0">
                <a:latin typeface="Times New Roman" panose="02020603050405020304" pitchFamily="18" charset="0"/>
                <a:cs typeface="Times New Roman" panose="02020603050405020304" pitchFamily="18" charset="0"/>
              </a:rPr>
              <a:t>Il </a:t>
            </a:r>
            <a:r>
              <a:rPr lang="it-IT" dirty="0" err="1">
                <a:latin typeface="Times New Roman" panose="02020603050405020304" pitchFamily="18" charset="0"/>
                <a:cs typeface="Times New Roman" panose="02020603050405020304" pitchFamily="18" charset="0"/>
              </a:rPr>
              <a:t>dataset</a:t>
            </a:r>
            <a:r>
              <a:rPr lang="it-IT" dirty="0">
                <a:latin typeface="Times New Roman" panose="02020603050405020304" pitchFamily="18" charset="0"/>
                <a:cs typeface="Times New Roman" panose="02020603050405020304" pitchFamily="18" charset="0"/>
              </a:rPr>
              <a:t> ha le seguenti caratteristiche:</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è composto da 43 classi. </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ogni classe corrisponde ad un diverso tipo di cartello stradale.</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contiene 51.839 esempi totali, di cui: 39.209 di training, 12.630 di test</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è inoltre fortemente sbilanciato, con classi sovra-rappresentate ed altre notevolmente sotto-rappresentate.</a:t>
            </a: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per ogni immagine esistono 29 varianti della stessa a cui sono </a:t>
            </a:r>
            <a:r>
              <a:rPr lang="it-IT" b="1" dirty="0">
                <a:latin typeface="Times New Roman" panose="02020603050405020304" pitchFamily="18" charset="0"/>
                <a:cs typeface="Times New Roman" panose="02020603050405020304" pitchFamily="18" charset="0"/>
              </a:rPr>
              <a:t>già</a:t>
            </a:r>
            <a:r>
              <a:rPr lang="it-IT" dirty="0">
                <a:latin typeface="Times New Roman" panose="02020603050405020304" pitchFamily="18" charset="0"/>
                <a:cs typeface="Times New Roman" panose="02020603050405020304" pitchFamily="18" charset="0"/>
              </a:rPr>
              <a:t> state applicate tecniche di Data </a:t>
            </a:r>
            <a:r>
              <a:rPr lang="it-IT" dirty="0" err="1">
                <a:latin typeface="Times New Roman" panose="02020603050405020304" pitchFamily="18" charset="0"/>
                <a:cs typeface="Times New Roman" panose="02020603050405020304" pitchFamily="18" charset="0"/>
              </a:rPr>
              <a:t>Augmentation</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resize</a:t>
            </a:r>
            <a:r>
              <a:rPr lang="it-IT" dirty="0">
                <a:latin typeface="Times New Roman" panose="02020603050405020304" pitchFamily="18" charset="0"/>
                <a:cs typeface="Times New Roman" panose="02020603050405020304" pitchFamily="18" charset="0"/>
              </a:rPr>
              <a:t>, filtraggi)</a:t>
            </a:r>
          </a:p>
          <a:p>
            <a:pPr marL="285750" indent="-285750" algn="just">
              <a:buFont typeface="Arial" panose="020B0604020202020204" pitchFamily="34" charset="0"/>
              <a:buChar char="•"/>
            </a:pPr>
            <a:r>
              <a:rPr lang="it-IT" b="1" dirty="0">
                <a:latin typeface="Times New Roman" panose="02020603050405020304" pitchFamily="18" charset="0"/>
                <a:cs typeface="Times New Roman" panose="02020603050405020304" pitchFamily="18" charset="0"/>
              </a:rPr>
              <a:t>le immagini hanno dimensioni differenti ma si è deciso di uniformarle tutte alla stessa dimensione per due motivi:</a:t>
            </a:r>
          </a:p>
          <a:p>
            <a:pPr marL="800100" lvl="1" indent="-342900" algn="just">
              <a:buFont typeface="+mj-lt"/>
              <a:buAutoNum type="arabicPeriod"/>
            </a:pPr>
            <a:r>
              <a:rPr lang="it-IT" dirty="0">
                <a:latin typeface="Times New Roman" panose="02020603050405020304" pitchFamily="18" charset="0"/>
                <a:cs typeface="Times New Roman" panose="02020603050405020304" pitchFamily="18" charset="0"/>
              </a:rPr>
              <a:t>le reti necessitano di input di uguale dimensione, quindi sono state decise le seguenti input </a:t>
            </a:r>
            <a:r>
              <a:rPr lang="it-IT" dirty="0" err="1">
                <a:latin typeface="Times New Roman" panose="02020603050405020304" pitchFamily="18" charset="0"/>
                <a:cs typeface="Times New Roman" panose="02020603050405020304" pitchFamily="18" charset="0"/>
              </a:rPr>
              <a:t>shape</a:t>
            </a:r>
            <a:r>
              <a:rPr lang="it-IT" dirty="0">
                <a:latin typeface="Times New Roman" panose="02020603050405020304" pitchFamily="18" charset="0"/>
                <a:cs typeface="Times New Roman" panose="02020603050405020304" pitchFamily="18" charset="0"/>
              </a:rPr>
              <a:t> di 30x30 nelle reti custom, 32x32 nelle reti Vgg16, Vgg19, ResNetV2 e 75x75 per InceptionV3. Per l’ultimo </a:t>
            </a:r>
            <a:r>
              <a:rPr lang="it-IT" dirty="0" err="1">
                <a:latin typeface="Times New Roman" panose="02020603050405020304" pitchFamily="18" charset="0"/>
                <a:cs typeface="Times New Roman" panose="02020603050405020304" pitchFamily="18" charset="0"/>
              </a:rPr>
              <a:t>run</a:t>
            </a:r>
            <a:r>
              <a:rPr lang="it-IT" dirty="0">
                <a:latin typeface="Times New Roman" panose="02020603050405020304" pitchFamily="18" charset="0"/>
                <a:cs typeface="Times New Roman" panose="02020603050405020304" pitchFamily="18" charset="0"/>
              </a:rPr>
              <a:t> si è usato 75x75 come dimensione degli input di tutte le reti.</a:t>
            </a:r>
          </a:p>
          <a:p>
            <a:pPr marL="800100" lvl="1" indent="-342900" algn="just">
              <a:buFont typeface="+mj-lt"/>
              <a:buAutoNum type="arabicPeriod"/>
            </a:pPr>
            <a:r>
              <a:rPr lang="it-IT" dirty="0">
                <a:latin typeface="Times New Roman" panose="02020603050405020304" pitchFamily="18" charset="0"/>
                <a:cs typeface="Times New Roman" panose="02020603050405020304" pitchFamily="18" charset="0"/>
              </a:rPr>
              <a:t>Immagini più grandi di 100x100 richiedevano </a:t>
            </a:r>
            <a:r>
              <a:rPr lang="it-IT" b="1" dirty="0">
                <a:latin typeface="Times New Roman" panose="02020603050405020304" pitchFamily="18" charset="0"/>
                <a:cs typeface="Times New Roman" panose="02020603050405020304" pitchFamily="18" charset="0"/>
              </a:rPr>
              <a:t>molta memoria RAM</a:t>
            </a:r>
            <a:r>
              <a:rPr lang="it-IT" dirty="0">
                <a:latin typeface="Times New Roman" panose="02020603050405020304" pitchFamily="18" charset="0"/>
                <a:cs typeface="Times New Roman" panose="02020603050405020304" pitchFamily="18" charset="0"/>
              </a:rPr>
              <a:t>, oltre 8GB e portavano quindi al </a:t>
            </a:r>
            <a:r>
              <a:rPr lang="it-IT" dirty="0" err="1">
                <a:latin typeface="Times New Roman" panose="02020603050405020304" pitchFamily="18" charset="0"/>
                <a:cs typeface="Times New Roman" panose="02020603050405020304" pitchFamily="18" charset="0"/>
              </a:rPr>
              <a:t>crach</a:t>
            </a:r>
            <a:r>
              <a:rPr lang="it-IT" dirty="0">
                <a:latin typeface="Times New Roman" panose="02020603050405020304" pitchFamily="18" charset="0"/>
                <a:cs typeface="Times New Roman" panose="02020603050405020304" pitchFamily="18" charset="0"/>
              </a:rPr>
              <a:t> del processo di caricamento.</a:t>
            </a:r>
          </a:p>
          <a:p>
            <a:pPr algn="just"/>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Link di  download del </a:t>
            </a:r>
            <a:r>
              <a:rPr lang="it-IT" dirty="0" err="1">
                <a:latin typeface="Times New Roman" panose="02020603050405020304" pitchFamily="18" charset="0"/>
                <a:cs typeface="Times New Roman" panose="02020603050405020304" pitchFamily="18" charset="0"/>
              </a:rPr>
              <a:t>dataset</a:t>
            </a:r>
            <a:r>
              <a:rPr lang="it-IT" dirty="0">
                <a:latin typeface="Times New Roman" panose="02020603050405020304" pitchFamily="18" charset="0"/>
                <a:cs typeface="Times New Roman" panose="02020603050405020304" pitchFamily="18" charset="0"/>
              </a:rPr>
              <a:t>: </a:t>
            </a:r>
            <a:r>
              <a:rPr lang="it-IT"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https://benchmark.ini.rub.de/gtsrb_news.html</a:t>
            </a:r>
            <a:endParaRPr lang="it-IT" dirty="0">
              <a:latin typeface="Times New Roman" panose="02020603050405020304" pitchFamily="18" charset="0"/>
              <a:cs typeface="Times New Roman" panose="02020603050405020304" pitchFamily="18" charset="0"/>
            </a:endParaRPr>
          </a:p>
          <a:p>
            <a:pPr algn="just"/>
            <a:br>
              <a:rPr lang="it-IT" dirty="0">
                <a:latin typeface="Times New Roman" panose="02020603050405020304" pitchFamily="18" charset="0"/>
                <a:cs typeface="Times New Roman" panose="02020603050405020304" pitchFamily="18" charset="0"/>
              </a:rPr>
            </a:br>
            <a:endParaRPr lang="it-IT" dirty="0">
              <a:latin typeface="Times New Roman" panose="02020603050405020304" pitchFamily="18" charset="0"/>
              <a:cs typeface="Times New Roman" panose="02020603050405020304" pitchFamily="18" charset="0"/>
            </a:endParaRP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01272" y="201999"/>
            <a:ext cx="2215221" cy="562705"/>
          </a:xfrm>
          <a:prstGeom prst="rect">
            <a:avLst/>
          </a:prstGeom>
        </p:spPr>
      </p:pic>
    </p:spTree>
    <p:extLst>
      <p:ext uri="{BB962C8B-B14F-4D97-AF65-F5344CB8AC3E}">
        <p14:creationId xmlns:p14="http://schemas.microsoft.com/office/powerpoint/2010/main" val="3085652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599100" y="65457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Distribuzione training set</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180096"/>
            <a:ext cx="2215221" cy="554666"/>
          </a:xfrm>
          <a:prstGeom prst="rect">
            <a:avLst/>
          </a:prstGeom>
        </p:spPr>
      </p:pic>
      <p:pic>
        <p:nvPicPr>
          <p:cNvPr id="8" name="Immagine 7">
            <a:extLst>
              <a:ext uri="{FF2B5EF4-FFF2-40B4-BE49-F238E27FC236}">
                <a16:creationId xmlns:a16="http://schemas.microsoft.com/office/drawing/2014/main" id="{3728E791-1189-314A-8C43-AC6F2D9370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472" y="1369615"/>
            <a:ext cx="9505056" cy="5341684"/>
          </a:xfrm>
          <a:prstGeom prst="rect">
            <a:avLst/>
          </a:prstGeom>
        </p:spPr>
      </p:pic>
    </p:spTree>
    <p:extLst>
      <p:ext uri="{BB962C8B-B14F-4D97-AF65-F5344CB8AC3E}">
        <p14:creationId xmlns:p14="http://schemas.microsoft.com/office/powerpoint/2010/main" val="4204978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48661" y="655633"/>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Distribuzione test set</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181683"/>
            <a:ext cx="2215221" cy="554666"/>
          </a:xfrm>
          <a:prstGeom prst="rect">
            <a:avLst/>
          </a:prstGeom>
        </p:spPr>
      </p:pic>
      <p:pic>
        <p:nvPicPr>
          <p:cNvPr id="4" name="Immagine 3">
            <a:extLst>
              <a:ext uri="{FF2B5EF4-FFF2-40B4-BE49-F238E27FC236}">
                <a16:creationId xmlns:a16="http://schemas.microsoft.com/office/drawing/2014/main" id="{393CE23E-0828-7A44-8399-E80E6E2940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5" y="1210299"/>
            <a:ext cx="9906000" cy="5567008"/>
          </a:xfrm>
          <a:prstGeom prst="rect">
            <a:avLst/>
          </a:prstGeom>
        </p:spPr>
      </p:pic>
    </p:spTree>
    <p:extLst>
      <p:ext uri="{BB962C8B-B14F-4D97-AF65-F5344CB8AC3E}">
        <p14:creationId xmlns:p14="http://schemas.microsoft.com/office/powerpoint/2010/main" val="272485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Modularità del codice   (1/6)</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178596"/>
            <a:ext cx="2215221" cy="554666"/>
          </a:xfrm>
          <a:prstGeom prst="rect">
            <a:avLst/>
          </a:prstGeom>
        </p:spPr>
      </p:pic>
      <p:sp>
        <p:nvSpPr>
          <p:cNvPr id="3" name="CasellaDiTesto 2">
            <a:extLst>
              <a:ext uri="{FF2B5EF4-FFF2-40B4-BE49-F238E27FC236}">
                <a16:creationId xmlns:a16="http://schemas.microsoft.com/office/drawing/2014/main" id="{F273295E-11C0-1A4C-8171-1AA2206B7DB7}"/>
              </a:ext>
            </a:extLst>
          </p:cNvPr>
          <p:cNvSpPr txBox="1"/>
          <p:nvPr/>
        </p:nvSpPr>
        <p:spPr>
          <a:xfrm>
            <a:off x="387870" y="1582972"/>
            <a:ext cx="9101633" cy="4247317"/>
          </a:xfrm>
          <a:prstGeom prst="rect">
            <a:avLst/>
          </a:prstGeom>
          <a:noFill/>
        </p:spPr>
        <p:txBody>
          <a:bodyPr wrap="square" rtlCol="0">
            <a:spAutoFit/>
          </a:bodyPr>
          <a:lstStyle/>
          <a:p>
            <a:pPr algn="just"/>
            <a:r>
              <a:rPr lang="it-IT" dirty="0">
                <a:latin typeface="Times New Roman" panose="02020603050405020304" pitchFamily="18" charset="0"/>
                <a:cs typeface="Times New Roman" panose="02020603050405020304" pitchFamily="18" charset="0"/>
              </a:rPr>
              <a:t>Il codice sviluppato è estremamente modulare ed è suddiviso in varie porzioni tra loro indipendenti:</a:t>
            </a:r>
          </a:p>
          <a:p>
            <a:pPr algn="just"/>
            <a:r>
              <a:rPr lang="it-IT" b="1" dirty="0">
                <a:latin typeface="Times New Roman" panose="02020603050405020304" pitchFamily="18" charset="0"/>
                <a:cs typeface="Times New Roman" panose="02020603050405020304" pitchFamily="18" charset="0"/>
              </a:rPr>
              <a:t>Definizioni delle variabili globali: </a:t>
            </a:r>
          </a:p>
          <a:p>
            <a:pPr marL="742950" lvl="1"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x_train</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feature</a:t>
            </a:r>
            <a:r>
              <a:rPr lang="it-IT" dirty="0">
                <a:latin typeface="Times New Roman" panose="02020603050405020304" pitchFamily="18" charset="0"/>
                <a:cs typeface="Times New Roman" panose="02020603050405020304" pitchFamily="18" charset="0"/>
              </a:rPr>
              <a:t> delle immagini di training in formato matriciale</a:t>
            </a:r>
          </a:p>
          <a:p>
            <a:pPr marL="742950" lvl="1"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y_train</a:t>
            </a:r>
            <a:r>
              <a:rPr lang="it-IT" dirty="0">
                <a:latin typeface="Times New Roman" panose="02020603050405020304" pitchFamily="18" charset="0"/>
                <a:cs typeface="Times New Roman" panose="02020603050405020304" pitchFamily="18" charset="0"/>
              </a:rPr>
              <a:t>: classificazione dei dati di training </a:t>
            </a:r>
            <a:r>
              <a:rPr lang="it-IT" dirty="0" err="1">
                <a:latin typeface="Times New Roman" panose="02020603050405020304" pitchFamily="18" charset="0"/>
                <a:cs typeface="Times New Roman" panose="02020603050405020304" pitchFamily="18" charset="0"/>
              </a:rPr>
              <a:t>one</a:t>
            </a:r>
            <a:r>
              <a:rPr lang="it-IT" dirty="0">
                <a:latin typeface="Times New Roman" panose="02020603050405020304" pitchFamily="18" charset="0"/>
                <a:cs typeface="Times New Roman" panose="02020603050405020304" pitchFamily="18" charset="0"/>
              </a:rPr>
              <a:t> hot </a:t>
            </a:r>
            <a:r>
              <a:rPr lang="it-IT" dirty="0" err="1">
                <a:latin typeface="Times New Roman" panose="02020603050405020304" pitchFamily="18" charset="0"/>
                <a:cs typeface="Times New Roman" panose="02020603050405020304" pitchFamily="18" charset="0"/>
              </a:rPr>
              <a:t>encoded</a:t>
            </a:r>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x_test</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feature</a:t>
            </a:r>
            <a:r>
              <a:rPr lang="it-IT" dirty="0">
                <a:latin typeface="Times New Roman" panose="02020603050405020304" pitchFamily="18" charset="0"/>
                <a:cs typeface="Times New Roman" panose="02020603050405020304" pitchFamily="18" charset="0"/>
              </a:rPr>
              <a:t> delle immagini di test in formato matriciale</a:t>
            </a:r>
          </a:p>
          <a:p>
            <a:pPr marL="742950" lvl="1"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y_test</a:t>
            </a:r>
            <a:r>
              <a:rPr lang="it-IT" dirty="0">
                <a:latin typeface="Times New Roman" panose="02020603050405020304" pitchFamily="18" charset="0"/>
                <a:cs typeface="Times New Roman" panose="02020603050405020304" pitchFamily="18" charset="0"/>
              </a:rPr>
              <a:t>: classificazione delle immagini di test </a:t>
            </a:r>
            <a:r>
              <a:rPr lang="it-IT" dirty="0" err="1">
                <a:latin typeface="Times New Roman" panose="02020603050405020304" pitchFamily="18" charset="0"/>
                <a:cs typeface="Times New Roman" panose="02020603050405020304" pitchFamily="18" charset="0"/>
              </a:rPr>
              <a:t>one</a:t>
            </a:r>
            <a:r>
              <a:rPr lang="it-IT" dirty="0">
                <a:latin typeface="Times New Roman" panose="02020603050405020304" pitchFamily="18" charset="0"/>
                <a:cs typeface="Times New Roman" panose="02020603050405020304" pitchFamily="18" charset="0"/>
              </a:rPr>
              <a:t> hot </a:t>
            </a:r>
            <a:r>
              <a:rPr lang="it-IT" dirty="0" err="1">
                <a:latin typeface="Times New Roman" panose="02020603050405020304" pitchFamily="18" charset="0"/>
                <a:cs typeface="Times New Roman" panose="02020603050405020304" pitchFamily="18" charset="0"/>
              </a:rPr>
              <a:t>encoded</a:t>
            </a:r>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Images: immagini in formato matriciale non normalizzare</a:t>
            </a:r>
          </a:p>
          <a:p>
            <a:pPr marL="742950" lvl="1"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Labels</a:t>
            </a:r>
            <a:r>
              <a:rPr lang="it-IT" dirty="0">
                <a:latin typeface="Times New Roman" panose="02020603050405020304" pitchFamily="18" charset="0"/>
                <a:cs typeface="Times New Roman" panose="02020603050405020304" pitchFamily="18" charset="0"/>
              </a:rPr>
              <a:t>: classi non </a:t>
            </a:r>
            <a:r>
              <a:rPr lang="it-IT" dirty="0" err="1">
                <a:latin typeface="Times New Roman" panose="02020603050405020304" pitchFamily="18" charset="0"/>
                <a:cs typeface="Times New Roman" panose="02020603050405020304" pitchFamily="18" charset="0"/>
              </a:rPr>
              <a:t>one</a:t>
            </a:r>
            <a:r>
              <a:rPr lang="it-IT" dirty="0">
                <a:latin typeface="Times New Roman" panose="02020603050405020304" pitchFamily="18" charset="0"/>
                <a:cs typeface="Times New Roman" panose="02020603050405020304" pitchFamily="18" charset="0"/>
              </a:rPr>
              <a:t> hot </a:t>
            </a:r>
            <a:r>
              <a:rPr lang="it-IT" dirty="0" err="1">
                <a:latin typeface="Times New Roman" panose="02020603050405020304" pitchFamily="18" charset="0"/>
                <a:cs typeface="Times New Roman" panose="02020603050405020304" pitchFamily="18" charset="0"/>
              </a:rPr>
              <a:t>encoded</a:t>
            </a:r>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Aug</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flag</a:t>
            </a:r>
            <a:r>
              <a:rPr lang="it-IT" dirty="0">
                <a:latin typeface="Times New Roman" panose="02020603050405020304" pitchFamily="18" charset="0"/>
                <a:cs typeface="Times New Roman" panose="02020603050405020304" pitchFamily="18" charset="0"/>
              </a:rPr>
              <a:t> che se </a:t>
            </a:r>
            <a:r>
              <a:rPr lang="it-IT" dirty="0" err="1">
                <a:latin typeface="Times New Roman" panose="02020603050405020304" pitchFamily="18" charset="0"/>
                <a:cs typeface="Times New Roman" panose="02020603050405020304" pitchFamily="18" charset="0"/>
              </a:rPr>
              <a:t>true</a:t>
            </a:r>
            <a:r>
              <a:rPr lang="it-IT" dirty="0">
                <a:latin typeface="Times New Roman" panose="02020603050405020304" pitchFamily="18" charset="0"/>
                <a:cs typeface="Times New Roman" panose="02020603050405020304" pitchFamily="18" charset="0"/>
              </a:rPr>
              <a:t> indica presenza di Data </a:t>
            </a:r>
            <a:r>
              <a:rPr lang="it-IT" dirty="0" err="1">
                <a:latin typeface="Times New Roman" panose="02020603050405020304" pitchFamily="18" charset="0"/>
                <a:cs typeface="Times New Roman" panose="02020603050405020304" pitchFamily="18" charset="0"/>
              </a:rPr>
              <a:t>Augmentation</a:t>
            </a:r>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data_dir</a:t>
            </a:r>
            <a:r>
              <a:rPr lang="it-IT" dirty="0">
                <a:latin typeface="Times New Roman" panose="02020603050405020304" pitchFamily="18" charset="0"/>
                <a:cs typeface="Times New Roman" panose="02020603050405020304" pitchFamily="18" charset="0"/>
              </a:rPr>
              <a:t>: cartella di </a:t>
            </a:r>
            <a:r>
              <a:rPr lang="it-IT" dirty="0" err="1">
                <a:latin typeface="Times New Roman" panose="02020603050405020304" pitchFamily="18" charset="0"/>
                <a:cs typeface="Times New Roman" panose="02020603050405020304" pitchFamily="18" charset="0"/>
              </a:rPr>
              <a:t>root</a:t>
            </a:r>
            <a:r>
              <a:rPr lang="it-IT" dirty="0">
                <a:latin typeface="Times New Roman" panose="02020603050405020304" pitchFamily="18" charset="0"/>
                <a:cs typeface="Times New Roman" panose="02020603050405020304" pitchFamily="18" charset="0"/>
              </a:rPr>
              <a:t> del progetto </a:t>
            </a:r>
          </a:p>
          <a:p>
            <a:pPr marL="742950" lvl="1"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train_path</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path</a:t>
            </a:r>
            <a:r>
              <a:rPr lang="it-IT" dirty="0">
                <a:latin typeface="Times New Roman" panose="02020603050405020304" pitchFamily="18" charset="0"/>
                <a:cs typeface="Times New Roman" panose="02020603050405020304" pitchFamily="18" charset="0"/>
              </a:rPr>
              <a:t> del training set ’’</a:t>
            </a:r>
            <a:r>
              <a:rPr lang="it-IT" dirty="0" err="1">
                <a:latin typeface="Times New Roman" panose="02020603050405020304" pitchFamily="18" charset="0"/>
                <a:cs typeface="Times New Roman" panose="02020603050405020304" pitchFamily="18" charset="0"/>
              </a:rPr>
              <a:t>archive</a:t>
            </a:r>
            <a:r>
              <a:rPr lang="it-IT" dirty="0">
                <a:latin typeface="Times New Roman" panose="02020603050405020304" pitchFamily="18" charset="0"/>
                <a:cs typeface="Times New Roman" panose="02020603050405020304" pitchFamily="18" charset="0"/>
              </a:rPr>
              <a:t>/Train’’</a:t>
            </a:r>
          </a:p>
          <a:p>
            <a:pPr marL="742950" lvl="1"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test_path</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path</a:t>
            </a:r>
            <a:r>
              <a:rPr lang="it-IT" dirty="0">
                <a:latin typeface="Times New Roman" panose="02020603050405020304" pitchFamily="18" charset="0"/>
                <a:cs typeface="Times New Roman" panose="02020603050405020304" pitchFamily="18" charset="0"/>
              </a:rPr>
              <a:t> del test set ’’</a:t>
            </a:r>
            <a:r>
              <a:rPr lang="it-IT" dirty="0" err="1">
                <a:latin typeface="Times New Roman" panose="02020603050405020304" pitchFamily="18" charset="0"/>
                <a:cs typeface="Times New Roman" panose="02020603050405020304" pitchFamily="18" charset="0"/>
              </a:rPr>
              <a:t>archive</a:t>
            </a:r>
            <a:r>
              <a:rPr lang="it-IT" dirty="0">
                <a:latin typeface="Times New Roman" panose="02020603050405020304" pitchFamily="18" charset="0"/>
                <a:cs typeface="Times New Roman" panose="02020603050405020304" pitchFamily="18" charset="0"/>
              </a:rPr>
              <a:t>/Test’’</a:t>
            </a:r>
          </a:p>
          <a:p>
            <a:pPr marL="742950" lvl="1"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augmented_path</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path</a:t>
            </a:r>
            <a:r>
              <a:rPr lang="it-IT" dirty="0">
                <a:latin typeface="Times New Roman" panose="02020603050405020304" pitchFamily="18" charset="0"/>
                <a:cs typeface="Times New Roman" panose="02020603050405020304" pitchFamily="18" charset="0"/>
              </a:rPr>
              <a:t> dei dati aumentati ‘</a:t>
            </a:r>
            <a:r>
              <a:rPr lang="it-IT" dirty="0" err="1">
                <a:latin typeface="Times New Roman" panose="02020603050405020304" pitchFamily="18" charset="0"/>
                <a:cs typeface="Times New Roman" panose="02020603050405020304" pitchFamily="18" charset="0"/>
              </a:rPr>
              <a:t>archive</a:t>
            </a:r>
            <a:r>
              <a:rPr lang="it-IT" dirty="0">
                <a:latin typeface="Times New Roman" panose="02020603050405020304" pitchFamily="18" charset="0"/>
                <a:cs typeface="Times New Roman" panose="02020603050405020304" pitchFamily="18" charset="0"/>
              </a:rPr>
              <a:t>/</a:t>
            </a:r>
            <a:r>
              <a:rPr lang="it-IT" dirty="0" err="1">
                <a:latin typeface="Times New Roman" panose="02020603050405020304" pitchFamily="18" charset="0"/>
                <a:cs typeface="Times New Roman" panose="02020603050405020304" pitchFamily="18" charset="0"/>
              </a:rPr>
              <a:t>Augmented</a:t>
            </a:r>
            <a:r>
              <a:rPr lang="it-IT" dirty="0">
                <a:latin typeface="Times New Roman" panose="02020603050405020304" pitchFamily="18" charset="0"/>
                <a:cs typeface="Times New Roman" panose="02020603050405020304" pitchFamily="18" charset="0"/>
              </a:rPr>
              <a:t>/</a:t>
            </a:r>
            <a:r>
              <a:rPr lang="it-IT" dirty="0" err="1">
                <a:latin typeface="Times New Roman" panose="02020603050405020304" pitchFamily="18" charset="0"/>
                <a:cs typeface="Times New Roman" panose="02020603050405020304" pitchFamily="18" charset="0"/>
              </a:rPr>
              <a:t>HxW</a:t>
            </a:r>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NUM_CATEGORIES: numero di classi </a:t>
            </a:r>
          </a:p>
        </p:txBody>
      </p:sp>
    </p:spTree>
    <p:extLst>
      <p:ext uri="{BB962C8B-B14F-4D97-AF65-F5344CB8AC3E}">
        <p14:creationId xmlns:p14="http://schemas.microsoft.com/office/powerpoint/2010/main" val="40525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Modularità del codice   (2/6)</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206588"/>
            <a:ext cx="2215221" cy="554666"/>
          </a:xfrm>
          <a:prstGeom prst="rect">
            <a:avLst/>
          </a:prstGeom>
        </p:spPr>
      </p:pic>
      <p:sp>
        <p:nvSpPr>
          <p:cNvPr id="3" name="CasellaDiTesto 2">
            <a:extLst>
              <a:ext uri="{FF2B5EF4-FFF2-40B4-BE49-F238E27FC236}">
                <a16:creationId xmlns:a16="http://schemas.microsoft.com/office/drawing/2014/main" id="{F273295E-11C0-1A4C-8171-1AA2206B7DB7}"/>
              </a:ext>
            </a:extLst>
          </p:cNvPr>
          <p:cNvSpPr txBox="1"/>
          <p:nvPr/>
        </p:nvSpPr>
        <p:spPr>
          <a:xfrm>
            <a:off x="387870" y="1582973"/>
            <a:ext cx="9228623" cy="5632311"/>
          </a:xfrm>
          <a:prstGeom prst="rect">
            <a:avLst/>
          </a:prstGeom>
          <a:noFill/>
        </p:spPr>
        <p:txBody>
          <a:bodyPr wrap="square" rtlCol="0">
            <a:spAutoFit/>
          </a:bodyPr>
          <a:lstStyle/>
          <a:p>
            <a:pPr algn="just"/>
            <a:r>
              <a:rPr lang="it-IT" sz="1700" b="1" dirty="0">
                <a:latin typeface="Times New Roman" panose="02020603050405020304" pitchFamily="18" charset="0"/>
                <a:cs typeface="Times New Roman" panose="02020603050405020304" pitchFamily="18" charset="0"/>
              </a:rPr>
              <a:t>Funzioni di utilità (1/2):</a:t>
            </a:r>
          </a:p>
          <a:p>
            <a:pPr marL="285750" indent="-285750" algn="just">
              <a:buFont typeface="Arial" panose="020B0604020202020204" pitchFamily="34" charset="0"/>
              <a:buChar char="•"/>
            </a:pPr>
            <a:r>
              <a:rPr lang="it-IT" sz="1700" b="1" dirty="0" err="1">
                <a:latin typeface="Times New Roman" panose="02020603050405020304" pitchFamily="18" charset="0"/>
                <a:cs typeface="Times New Roman" panose="02020603050405020304" pitchFamily="18" charset="0"/>
              </a:rPr>
              <a:t>load_train_data</a:t>
            </a:r>
            <a:r>
              <a:rPr lang="it-IT" sz="1700" b="1" dirty="0"/>
              <a:t>: </a:t>
            </a:r>
            <a:r>
              <a:rPr lang="it-IT" sz="1700" dirty="0">
                <a:latin typeface="Times New Roman" panose="02020603050405020304" pitchFamily="18" charset="0"/>
                <a:cs typeface="Times New Roman" panose="02020603050405020304" pitchFamily="18" charset="0"/>
              </a:rPr>
              <a:t>carica ciascuna immagine del </a:t>
            </a:r>
            <a:r>
              <a:rPr lang="it-IT" sz="1700" dirty="0" err="1">
                <a:latin typeface="Times New Roman" panose="02020603050405020304" pitchFamily="18" charset="0"/>
                <a:cs typeface="Times New Roman" panose="02020603050405020304" pitchFamily="18" charset="0"/>
              </a:rPr>
              <a:t>dataset</a:t>
            </a:r>
            <a:r>
              <a:rPr lang="it-IT" sz="1700" dirty="0">
                <a:latin typeface="Times New Roman" panose="02020603050405020304" pitchFamily="18" charset="0"/>
                <a:cs typeface="Times New Roman" panose="02020603050405020304" pitchFamily="18" charset="0"/>
              </a:rPr>
              <a:t> di training e la converte in un array tridimensionale. Ogni immagine viene dunque inserita in una lista in questa forma, inoltre viene creata una seconda lista che contiene la categoria (</a:t>
            </a:r>
            <a:r>
              <a:rPr lang="it-IT" sz="1700" b="1" dirty="0">
                <a:latin typeface="Times New Roman" panose="02020603050405020304" pitchFamily="18" charset="0"/>
                <a:cs typeface="Times New Roman" panose="02020603050405020304" pitchFamily="18" charset="0"/>
              </a:rPr>
              <a:t>numerica</a:t>
            </a:r>
            <a:r>
              <a:rPr lang="it-IT" sz="1700" dirty="0">
                <a:latin typeface="Times New Roman" panose="02020603050405020304" pitchFamily="18" charset="0"/>
                <a:cs typeface="Times New Roman" panose="02020603050405020304" pitchFamily="18" charset="0"/>
              </a:rPr>
              <a:t>) di ogni esempio nello stesso ordine. Questa funzione è in grado inoltre di caricare immagini di cui è stato fatto Data </a:t>
            </a:r>
            <a:r>
              <a:rPr lang="it-IT" sz="1700" dirty="0" err="1">
                <a:latin typeface="Times New Roman" panose="02020603050405020304" pitchFamily="18" charset="0"/>
                <a:cs typeface="Times New Roman" panose="02020603050405020304" pitchFamily="18" charset="0"/>
              </a:rPr>
              <a:t>Augmentation</a:t>
            </a:r>
            <a:r>
              <a:rPr lang="it-IT" sz="1700" dirty="0">
                <a:latin typeface="Times New Roman" panose="02020603050405020304" pitchFamily="18" charset="0"/>
                <a:cs typeface="Times New Roman" panose="02020603050405020304" pitchFamily="18" charset="0"/>
              </a:rPr>
              <a:t> a seconda del valore del </a:t>
            </a:r>
            <a:r>
              <a:rPr lang="it-IT" sz="1700" dirty="0" err="1">
                <a:latin typeface="Times New Roman" panose="02020603050405020304" pitchFamily="18" charset="0"/>
                <a:cs typeface="Times New Roman" panose="02020603050405020304" pitchFamily="18" charset="0"/>
              </a:rPr>
              <a:t>flag</a:t>
            </a:r>
            <a:r>
              <a:rPr lang="it-IT" sz="1700" dirty="0">
                <a:latin typeface="Times New Roman" panose="02020603050405020304" pitchFamily="18" charset="0"/>
                <a:cs typeface="Times New Roman" panose="02020603050405020304" pitchFamily="18" charset="0"/>
              </a:rPr>
              <a:t> </a:t>
            </a:r>
            <a:r>
              <a:rPr lang="it-IT" sz="1700" i="1" dirty="0" err="1">
                <a:latin typeface="Times New Roman" panose="02020603050405020304" pitchFamily="18" charset="0"/>
                <a:cs typeface="Times New Roman" panose="02020603050405020304" pitchFamily="18" charset="0"/>
              </a:rPr>
              <a:t>augmented</a:t>
            </a:r>
            <a:r>
              <a:rPr lang="it-IT" sz="1700" i="1" dirty="0">
                <a:latin typeface="Times New Roman" panose="02020603050405020304" pitchFamily="18" charset="0"/>
                <a:cs typeface="Times New Roman" panose="02020603050405020304" pitchFamily="18" charset="0"/>
              </a:rPr>
              <a:t>, </a:t>
            </a:r>
            <a:r>
              <a:rPr lang="it-IT" sz="1700" dirty="0" err="1">
                <a:latin typeface="Times New Roman" panose="02020603050405020304" pitchFamily="18" charset="0"/>
                <a:cs typeface="Times New Roman" panose="02020603050405020304" pitchFamily="18" charset="0"/>
              </a:rPr>
              <a:t>cambinado</a:t>
            </a:r>
            <a:r>
              <a:rPr lang="it-IT" sz="1700" dirty="0">
                <a:latin typeface="Times New Roman" panose="02020603050405020304" pitchFamily="18" charset="0"/>
                <a:cs typeface="Times New Roman" panose="02020603050405020304" pitchFamily="18" charset="0"/>
              </a:rPr>
              <a:t> semplicemente la directory di lettura.</a:t>
            </a:r>
          </a:p>
          <a:p>
            <a:pPr marL="285750" indent="-285750" algn="just">
              <a:buFont typeface="Arial" panose="020B0604020202020204" pitchFamily="34" charset="0"/>
              <a:buChar char="•"/>
            </a:pPr>
            <a:r>
              <a:rPr lang="it-IT" sz="1700" b="1" dirty="0" err="1">
                <a:latin typeface="Times New Roman" panose="02020603050405020304" pitchFamily="18" charset="0"/>
                <a:cs typeface="Times New Roman" panose="02020603050405020304" pitchFamily="18" charset="0"/>
              </a:rPr>
              <a:t>load_test_data</a:t>
            </a:r>
            <a:r>
              <a:rPr lang="it-IT" sz="1700" b="1" dirty="0">
                <a:latin typeface="Times New Roman" panose="02020603050405020304" pitchFamily="18" charset="0"/>
                <a:cs typeface="Times New Roman" panose="02020603050405020304" pitchFamily="18" charset="0"/>
              </a:rPr>
              <a:t>: </a:t>
            </a:r>
            <a:r>
              <a:rPr lang="it-IT" sz="1700" dirty="0">
                <a:latin typeface="Times New Roman" panose="02020603050405020304" pitchFamily="18" charset="0"/>
                <a:cs typeface="Times New Roman" panose="02020603050405020304" pitchFamily="18" charset="0"/>
              </a:rPr>
              <a:t>carica ciascuna immagine del </a:t>
            </a:r>
            <a:r>
              <a:rPr lang="it-IT" sz="1700" dirty="0" err="1">
                <a:latin typeface="Times New Roman" panose="02020603050405020304" pitchFamily="18" charset="0"/>
                <a:cs typeface="Times New Roman" panose="02020603050405020304" pitchFamily="18" charset="0"/>
              </a:rPr>
              <a:t>dataset</a:t>
            </a:r>
            <a:r>
              <a:rPr lang="it-IT" sz="1700" dirty="0">
                <a:latin typeface="Times New Roman" panose="02020603050405020304" pitchFamily="18" charset="0"/>
                <a:cs typeface="Times New Roman" panose="02020603050405020304" pitchFamily="18" charset="0"/>
              </a:rPr>
              <a:t> di test e la converte in un array tridimensionale, leggendo dal CSV. Ogni immagine in questo formato viene inserita in una lista, inoltre viene creata una seconda lista che contiene la categoria (</a:t>
            </a:r>
            <a:r>
              <a:rPr lang="it-IT" sz="1700" b="1" dirty="0">
                <a:latin typeface="Times New Roman" panose="02020603050405020304" pitchFamily="18" charset="0"/>
                <a:cs typeface="Times New Roman" panose="02020603050405020304" pitchFamily="18" charset="0"/>
              </a:rPr>
              <a:t>numerica</a:t>
            </a:r>
            <a:r>
              <a:rPr lang="it-IT" sz="1700" dirty="0">
                <a:latin typeface="Times New Roman" panose="02020603050405020304" pitchFamily="18" charset="0"/>
                <a:cs typeface="Times New Roman" panose="02020603050405020304" pitchFamily="18" charset="0"/>
              </a:rPr>
              <a:t>) di ogni esempio nello stesso ordine</a:t>
            </a:r>
            <a:r>
              <a:rPr lang="it-IT" sz="1700" dirty="0"/>
              <a:t>.</a:t>
            </a:r>
          </a:p>
          <a:p>
            <a:pPr marL="285750" indent="-285750" algn="just">
              <a:buFont typeface="Arial" panose="020B0604020202020204" pitchFamily="34" charset="0"/>
              <a:buChar char="•"/>
            </a:pPr>
            <a:r>
              <a:rPr lang="it-IT" sz="1700" b="1" dirty="0" err="1">
                <a:latin typeface="Times New Roman" panose="02020603050405020304" pitchFamily="18" charset="0"/>
                <a:cs typeface="Times New Roman" panose="02020603050405020304" pitchFamily="18" charset="0"/>
              </a:rPr>
              <a:t>init_data</a:t>
            </a:r>
            <a:r>
              <a:rPr lang="it-IT" sz="1700" b="1" dirty="0"/>
              <a:t>:</a:t>
            </a:r>
          </a:p>
          <a:p>
            <a:pPr marL="742950" lvl="1" indent="-285750" algn="just">
              <a:buFont typeface="Arial" panose="020B0604020202020204" pitchFamily="34" charset="0"/>
              <a:buChar char="•"/>
            </a:pPr>
            <a:r>
              <a:rPr lang="it-IT" sz="1700" dirty="0">
                <a:latin typeface="Times New Roman" panose="02020603050405020304" pitchFamily="18" charset="0"/>
                <a:cs typeface="Times New Roman" panose="02020603050405020304" pitchFamily="18" charset="0"/>
              </a:rPr>
              <a:t>richiama </a:t>
            </a:r>
            <a:r>
              <a:rPr lang="it-IT" sz="1700" i="1" dirty="0" err="1">
                <a:latin typeface="Times New Roman" panose="02020603050405020304" pitchFamily="18" charset="0"/>
                <a:cs typeface="Times New Roman" panose="02020603050405020304" pitchFamily="18" charset="0"/>
              </a:rPr>
              <a:t>load_train_data</a:t>
            </a:r>
            <a:r>
              <a:rPr lang="it-IT" sz="1700" i="1" dirty="0">
                <a:latin typeface="Times New Roman" panose="02020603050405020304" pitchFamily="18" charset="0"/>
                <a:cs typeface="Times New Roman" panose="02020603050405020304" pitchFamily="18" charset="0"/>
              </a:rPr>
              <a:t>()</a:t>
            </a:r>
            <a:r>
              <a:rPr lang="it-IT" sz="1700" dirty="0">
                <a:latin typeface="Times New Roman" panose="02020603050405020304" pitchFamily="18" charset="0"/>
                <a:cs typeface="Times New Roman" panose="02020603050405020304" pitchFamily="18" charset="0"/>
              </a:rPr>
              <a:t> e </a:t>
            </a:r>
            <a:r>
              <a:rPr lang="it-IT" sz="1700" i="1" dirty="0" err="1">
                <a:latin typeface="Times New Roman" panose="02020603050405020304" pitchFamily="18" charset="0"/>
                <a:cs typeface="Times New Roman" panose="02020603050405020304" pitchFamily="18" charset="0"/>
              </a:rPr>
              <a:t>load_test_data</a:t>
            </a:r>
            <a:r>
              <a:rPr lang="it-IT" sz="1700" i="1" dirty="0">
                <a:latin typeface="Times New Roman" panose="02020603050405020304" pitchFamily="18" charset="0"/>
                <a:cs typeface="Times New Roman" panose="02020603050405020304" pitchFamily="18" charset="0"/>
              </a:rPr>
              <a:t>()</a:t>
            </a:r>
            <a:r>
              <a:rPr lang="it-IT" sz="1700" dirty="0">
                <a:latin typeface="Times New Roman" panose="02020603050405020304" pitchFamily="18" charset="0"/>
                <a:cs typeface="Times New Roman" panose="02020603050405020304" pitchFamily="18" charset="0"/>
              </a:rPr>
              <a:t> per effettuare il caricamento delle immagini</a:t>
            </a:r>
          </a:p>
          <a:p>
            <a:pPr marL="742950" lvl="1" indent="-285750" algn="just">
              <a:buFont typeface="Arial" panose="020B0604020202020204" pitchFamily="34" charset="0"/>
              <a:buChar char="•"/>
            </a:pPr>
            <a:r>
              <a:rPr lang="it-IT" sz="1700" dirty="0">
                <a:latin typeface="Times New Roman" panose="02020603050405020304" pitchFamily="18" charset="0"/>
                <a:cs typeface="Times New Roman" panose="02020603050405020304" pitchFamily="18" charset="0"/>
              </a:rPr>
              <a:t>mescola le immagini di training e di test in maniera casuale in modo da velocizzare il più possibile l'addestramento</a:t>
            </a:r>
          </a:p>
          <a:p>
            <a:pPr marL="742950" lvl="1" indent="-285750" algn="just">
              <a:buFont typeface="Arial" panose="020B0604020202020204" pitchFamily="34" charset="0"/>
              <a:buChar char="•"/>
            </a:pPr>
            <a:r>
              <a:rPr lang="it-IT" sz="1700" dirty="0">
                <a:latin typeface="Times New Roman" panose="02020603050405020304" pitchFamily="18" charset="0"/>
                <a:cs typeface="Times New Roman" panose="02020603050405020304" pitchFamily="18" charset="0"/>
              </a:rPr>
              <a:t>converte ogni categoria numerica in </a:t>
            </a:r>
            <a:r>
              <a:rPr lang="it-IT" sz="1700" i="1" dirty="0" err="1">
                <a:latin typeface="Times New Roman" panose="02020603050405020304" pitchFamily="18" charset="0"/>
                <a:cs typeface="Times New Roman" panose="02020603050405020304" pitchFamily="18" charset="0"/>
              </a:rPr>
              <a:t>one</a:t>
            </a:r>
            <a:r>
              <a:rPr lang="it-IT" sz="1700" i="1" dirty="0">
                <a:latin typeface="Times New Roman" panose="02020603050405020304" pitchFamily="18" charset="0"/>
                <a:cs typeface="Times New Roman" panose="02020603050405020304" pitchFamily="18" charset="0"/>
              </a:rPr>
              <a:t>-hot </a:t>
            </a:r>
            <a:r>
              <a:rPr lang="it-IT" sz="1700" i="1" dirty="0" err="1">
                <a:latin typeface="Times New Roman" panose="02020603050405020304" pitchFamily="18" charset="0"/>
                <a:cs typeface="Times New Roman" panose="02020603050405020304" pitchFamily="18" charset="0"/>
              </a:rPr>
              <a:t>encoding</a:t>
            </a:r>
            <a:endParaRPr lang="it-IT" sz="1700" i="1"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it-IT" sz="1700" dirty="0">
                <a:latin typeface="Times New Roman" panose="02020603050405020304" pitchFamily="18" charset="0"/>
                <a:cs typeface="Times New Roman" panose="02020603050405020304" pitchFamily="18" charset="0"/>
              </a:rPr>
              <a:t>normalizza ogni pixel dividendo per il valore massimo (255)</a:t>
            </a:r>
          </a:p>
          <a:p>
            <a:pPr marL="742950" lvl="1" indent="-285750" algn="just">
              <a:buFont typeface="Arial" panose="020B0604020202020204" pitchFamily="34" charset="0"/>
              <a:buChar char="•"/>
            </a:pPr>
            <a:r>
              <a:rPr lang="it-IT" sz="1700" dirty="0">
                <a:latin typeface="Times New Roman" panose="02020603050405020304" pitchFamily="18" charset="0"/>
                <a:cs typeface="Times New Roman" panose="02020603050405020304" pitchFamily="18" charset="0"/>
              </a:rPr>
              <a:t>stabilisce input </a:t>
            </a:r>
            <a:r>
              <a:rPr lang="it-IT" sz="1700" dirty="0" err="1">
                <a:latin typeface="Times New Roman" panose="02020603050405020304" pitchFamily="18" charset="0"/>
                <a:cs typeface="Times New Roman" panose="02020603050405020304" pitchFamily="18" charset="0"/>
              </a:rPr>
              <a:t>shape</a:t>
            </a:r>
            <a:r>
              <a:rPr lang="it-IT" sz="1700" dirty="0">
                <a:latin typeface="Times New Roman" panose="02020603050405020304" pitchFamily="18" charset="0"/>
                <a:cs typeface="Times New Roman" panose="02020603050405020304" pitchFamily="18" charset="0"/>
              </a:rPr>
              <a:t> che le reti utilizzeranno per l'addestramento sulla base della dimensione delle immagini che sono state appena caricate in memoria.</a:t>
            </a:r>
          </a:p>
          <a:p>
            <a:pPr marL="285750" indent="-285750" algn="just">
              <a:buFont typeface="Arial" panose="020B0604020202020204" pitchFamily="34" charset="0"/>
              <a:buChar char="•"/>
            </a:pPr>
            <a:endParaRPr lang="it-IT" dirty="0"/>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0263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Modularità del codice   (3/6)</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206588"/>
            <a:ext cx="2215221" cy="554666"/>
          </a:xfrm>
          <a:prstGeom prst="rect">
            <a:avLst/>
          </a:prstGeom>
        </p:spPr>
      </p:pic>
      <p:sp>
        <p:nvSpPr>
          <p:cNvPr id="3" name="CasellaDiTesto 2">
            <a:extLst>
              <a:ext uri="{FF2B5EF4-FFF2-40B4-BE49-F238E27FC236}">
                <a16:creationId xmlns:a16="http://schemas.microsoft.com/office/drawing/2014/main" id="{F273295E-11C0-1A4C-8171-1AA2206B7DB7}"/>
              </a:ext>
            </a:extLst>
          </p:cNvPr>
          <p:cNvSpPr txBox="1"/>
          <p:nvPr/>
        </p:nvSpPr>
        <p:spPr>
          <a:xfrm>
            <a:off x="387870" y="1582973"/>
            <a:ext cx="9228623" cy="5355312"/>
          </a:xfrm>
          <a:prstGeom prst="rect">
            <a:avLst/>
          </a:prstGeom>
          <a:noFill/>
        </p:spPr>
        <p:txBody>
          <a:bodyPr wrap="square" rtlCol="0">
            <a:spAutoFit/>
          </a:bodyPr>
          <a:lstStyle/>
          <a:p>
            <a:pPr algn="just"/>
            <a:r>
              <a:rPr lang="it-IT" b="1" dirty="0">
                <a:latin typeface="Times New Roman" panose="02020603050405020304" pitchFamily="18" charset="0"/>
                <a:cs typeface="Times New Roman" panose="02020603050405020304" pitchFamily="18" charset="0"/>
              </a:rPr>
              <a:t>Funzioni di utilità (2/2):</a:t>
            </a:r>
          </a:p>
          <a:p>
            <a:pPr marL="285750" indent="-285750" algn="just">
              <a:buFont typeface="Arial" panose="020B0604020202020204" pitchFamily="34" charset="0"/>
              <a:buChar char="•"/>
            </a:pPr>
            <a:r>
              <a:rPr lang="it-IT" b="1" dirty="0" err="1">
                <a:latin typeface="Times New Roman" panose="02020603050405020304" pitchFamily="18" charset="0"/>
                <a:cs typeface="Times New Roman" panose="02020603050405020304" pitchFamily="18" charset="0"/>
              </a:rPr>
              <a:t>do_data_augmentation</a:t>
            </a:r>
            <a:r>
              <a:rPr lang="it-IT" b="1" dirty="0">
                <a:latin typeface="Times New Roman" panose="02020603050405020304" pitchFamily="18" charset="0"/>
                <a:cs typeface="Times New Roman" panose="02020603050405020304" pitchFamily="18" charset="0"/>
              </a:rPr>
              <a:t>:</a:t>
            </a:r>
            <a:r>
              <a:rPr lang="it-IT" dirty="0"/>
              <a:t> </a:t>
            </a:r>
            <a:r>
              <a:rPr lang="it-IT" dirty="0">
                <a:latin typeface="Times New Roman" panose="02020603050405020304" pitchFamily="18" charset="0"/>
                <a:cs typeface="Times New Roman" panose="02020603050405020304" pitchFamily="18" charset="0"/>
              </a:rPr>
              <a:t>è una funzione in grado di effettuare data </a:t>
            </a:r>
            <a:r>
              <a:rPr lang="it-IT" dirty="0" err="1">
                <a:latin typeface="Times New Roman" panose="02020603050405020304" pitchFamily="18" charset="0"/>
                <a:cs typeface="Times New Roman" panose="02020603050405020304" pitchFamily="18" charset="0"/>
              </a:rPr>
              <a:t>augmentation</a:t>
            </a:r>
            <a:r>
              <a:rPr lang="it-IT" dirty="0">
                <a:latin typeface="Times New Roman" panose="02020603050405020304" pitchFamily="18" charset="0"/>
                <a:cs typeface="Times New Roman" panose="02020603050405020304" pitchFamily="18" charset="0"/>
              </a:rPr>
              <a:t> per ogni immagine del training set. In particolare per ogni immagine applica un ribaltamento e una piccola rotazione casuale e la salva nella directory </a:t>
            </a:r>
            <a:r>
              <a:rPr lang="it-IT" i="1" dirty="0" err="1">
                <a:latin typeface="Times New Roman" panose="02020603050405020304" pitchFamily="18" charset="0"/>
                <a:cs typeface="Times New Roman" panose="02020603050405020304" pitchFamily="18" charset="0"/>
              </a:rPr>
              <a:t>Augmented</a:t>
            </a:r>
            <a:r>
              <a:rPr lang="it-IT" i="1" dirty="0">
                <a:latin typeface="Times New Roman" panose="02020603050405020304" pitchFamily="18" charset="0"/>
                <a:cs typeface="Times New Roman" panose="02020603050405020304" pitchFamily="18" charset="0"/>
              </a:rPr>
              <a:t>/</a:t>
            </a:r>
            <a:r>
              <a:rPr lang="it-IT" i="1" dirty="0" err="1">
                <a:latin typeface="Times New Roman" panose="02020603050405020304" pitchFamily="18" charset="0"/>
                <a:cs typeface="Times New Roman" panose="02020603050405020304" pitchFamily="18" charset="0"/>
              </a:rPr>
              <a:t>ixj</a:t>
            </a:r>
            <a:r>
              <a:rPr lang="it-IT" dirty="0">
                <a:latin typeface="Times New Roman" panose="02020603050405020304" pitchFamily="18" charset="0"/>
                <a:cs typeface="Times New Roman" panose="02020603050405020304" pitchFamily="18" charset="0"/>
              </a:rPr>
              <a:t> dove i e </a:t>
            </a:r>
            <a:r>
              <a:rPr lang="it-IT" dirty="0" err="1">
                <a:latin typeface="Times New Roman" panose="02020603050405020304" pitchFamily="18" charset="0"/>
                <a:cs typeface="Times New Roman" panose="02020603050405020304" pitchFamily="18" charset="0"/>
              </a:rPr>
              <a:t>j</a:t>
            </a:r>
            <a:r>
              <a:rPr lang="it-IT" dirty="0">
                <a:latin typeface="Times New Roman" panose="02020603050405020304" pitchFamily="18" charset="0"/>
                <a:cs typeface="Times New Roman" panose="02020603050405020304" pitchFamily="18" charset="0"/>
              </a:rPr>
              <a:t> sono le dimensioni delle immagini di output. Questa funzione, in combinazione col </a:t>
            </a:r>
            <a:r>
              <a:rPr lang="it-IT" dirty="0" err="1">
                <a:latin typeface="Times New Roman" panose="02020603050405020304" pitchFamily="18" charset="0"/>
                <a:cs typeface="Times New Roman" panose="02020603050405020304" pitchFamily="18" charset="0"/>
              </a:rPr>
              <a:t>flag</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augmented</a:t>
            </a:r>
            <a:r>
              <a:rPr lang="it-IT" dirty="0">
                <a:latin typeface="Times New Roman" panose="02020603050405020304" pitchFamily="18" charset="0"/>
                <a:cs typeface="Times New Roman" panose="02020603050405020304" pitchFamily="18" charset="0"/>
              </a:rPr>
              <a:t> settato a True permette di raddoppiare il numero di esempi di addestramento, generando una nuova immagine per ogni pattern di training.</a:t>
            </a:r>
          </a:p>
          <a:p>
            <a:pPr marL="285750" indent="-285750" algn="just">
              <a:buFont typeface="Arial" panose="020B0604020202020204" pitchFamily="34" charset="0"/>
              <a:buChar char="•"/>
            </a:pPr>
            <a:r>
              <a:rPr lang="it-IT" b="1" dirty="0" err="1">
                <a:latin typeface="Times New Roman" panose="02020603050405020304" pitchFamily="18" charset="0"/>
                <a:cs typeface="Times New Roman" panose="02020603050405020304" pitchFamily="18" charset="0"/>
              </a:rPr>
              <a:t>plot_results</a:t>
            </a:r>
            <a:r>
              <a:rPr lang="it-IT" b="1" dirty="0">
                <a:latin typeface="Times New Roman" panose="02020603050405020304" pitchFamily="18" charset="0"/>
                <a:cs typeface="Times New Roman" panose="02020603050405020304" pitchFamily="18" charset="0"/>
              </a:rPr>
              <a:t>:</a:t>
            </a:r>
            <a:r>
              <a:rPr lang="it-IT" dirty="0"/>
              <a:t> </a:t>
            </a:r>
            <a:r>
              <a:rPr lang="it-IT" dirty="0">
                <a:latin typeface="Times New Roman" panose="02020603050405020304" pitchFamily="18" charset="0"/>
                <a:cs typeface="Times New Roman" panose="02020603050405020304" pitchFamily="18" charset="0"/>
              </a:rPr>
              <a:t>è una funzione che permette di visualizzare l'andamento grafico delle metriche epoca per epoca una volta concluse tutte le epoche di addestramento. In particolar modo in questa istanza vogliamo visualizzare: l'andamento di </a:t>
            </a:r>
            <a:r>
              <a:rPr lang="it-IT" dirty="0" err="1">
                <a:latin typeface="Times New Roman" panose="02020603050405020304" pitchFamily="18" charset="0"/>
                <a:cs typeface="Times New Roman" panose="02020603050405020304" pitchFamily="18" charset="0"/>
              </a:rPr>
              <a:t>Loss</a:t>
            </a:r>
            <a:r>
              <a:rPr lang="it-IT" dirty="0">
                <a:latin typeface="Times New Roman" panose="02020603050405020304" pitchFamily="18" charset="0"/>
                <a:cs typeface="Times New Roman" panose="02020603050405020304" pitchFamily="18" charset="0"/>
              </a:rPr>
              <a:t>, F1-Score sul training e </a:t>
            </a:r>
            <a:r>
              <a:rPr lang="it-IT" dirty="0" err="1">
                <a:latin typeface="Times New Roman" panose="02020603050405020304" pitchFamily="18" charset="0"/>
                <a:cs typeface="Times New Roman" panose="02020603050405020304" pitchFamily="18" charset="0"/>
              </a:rPr>
              <a:t>validation</a:t>
            </a:r>
            <a:r>
              <a:rPr lang="it-IT" dirty="0">
                <a:latin typeface="Times New Roman" panose="02020603050405020304" pitchFamily="18" charset="0"/>
                <a:cs typeface="Times New Roman" panose="02020603050405020304" pitchFamily="18" charset="0"/>
              </a:rPr>
              <a:t> pesato sulla distribuzione del </a:t>
            </a:r>
            <a:r>
              <a:rPr lang="it-IT" dirty="0" err="1">
                <a:latin typeface="Times New Roman" panose="02020603050405020304" pitchFamily="18" charset="0"/>
                <a:cs typeface="Times New Roman" panose="02020603050405020304" pitchFamily="18" charset="0"/>
              </a:rPr>
              <a:t>dataset</a:t>
            </a:r>
            <a:r>
              <a:rPr lang="it-IT" dirty="0">
                <a:latin typeface="Times New Roman" panose="02020603050405020304" pitchFamily="18" charset="0"/>
                <a:cs typeface="Times New Roman" panose="02020603050405020304" pitchFamily="18" charset="0"/>
              </a:rPr>
              <a:t>, dell'</a:t>
            </a:r>
            <a:r>
              <a:rPr lang="it-IT" dirty="0" err="1">
                <a:latin typeface="Times New Roman" panose="02020603050405020304" pitchFamily="18" charset="0"/>
                <a:cs typeface="Times New Roman" panose="02020603050405020304" pitchFamily="18" charset="0"/>
              </a:rPr>
              <a:t>accuracy</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validation</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accuracy</a:t>
            </a:r>
            <a:r>
              <a:rPr lang="it-IT"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it-IT" b="1" dirty="0" err="1">
                <a:latin typeface="Times New Roman" panose="02020603050405020304" pitchFamily="18" charset="0"/>
                <a:cs typeface="Times New Roman" panose="02020603050405020304" pitchFamily="18" charset="0"/>
              </a:rPr>
              <a:t>compile_train_evaluate</a:t>
            </a:r>
            <a:r>
              <a:rPr lang="it-IT" b="1" dirty="0">
                <a:latin typeface="Times New Roman" panose="02020603050405020304" pitchFamily="18" charset="0"/>
                <a:cs typeface="Times New Roman" panose="02020603050405020304" pitchFamily="18" charset="0"/>
              </a:rPr>
              <a:t>:</a:t>
            </a:r>
            <a:r>
              <a:rPr lang="it-IT" dirty="0"/>
              <a:t> </a:t>
            </a:r>
            <a:r>
              <a:rPr lang="it-IT" dirty="0">
                <a:latin typeface="Times New Roman" panose="02020603050405020304" pitchFamily="18" charset="0"/>
                <a:cs typeface="Times New Roman" panose="02020603050405020304" pitchFamily="18" charset="0"/>
              </a:rPr>
              <a:t>è una funzione che, ricevuto in input un modello esegue le operazioni di </a:t>
            </a:r>
            <a:r>
              <a:rPr lang="it-IT" dirty="0" err="1">
                <a:latin typeface="Times New Roman" panose="02020603050405020304" pitchFamily="18" charset="0"/>
                <a:cs typeface="Times New Roman" panose="02020603050405020304" pitchFamily="18" charset="0"/>
              </a:rPr>
              <a:t>compiling</a:t>
            </a:r>
            <a:r>
              <a:rPr lang="it-IT" dirty="0">
                <a:latin typeface="Times New Roman" panose="02020603050405020304" pitchFamily="18" charset="0"/>
                <a:cs typeface="Times New Roman" panose="02020603050405020304" pitchFamily="18" charset="0"/>
              </a:rPr>
              <a:t>, training e </a:t>
            </a:r>
            <a:r>
              <a:rPr lang="it-IT" dirty="0" err="1">
                <a:latin typeface="Times New Roman" panose="02020603050405020304" pitchFamily="18" charset="0"/>
                <a:cs typeface="Times New Roman" panose="02020603050405020304" pitchFamily="18" charset="0"/>
              </a:rPr>
              <a:t>testing</a:t>
            </a:r>
            <a:r>
              <a:rPr lang="it-IT" dirty="0">
                <a:latin typeface="Times New Roman" panose="02020603050405020304" pitchFamily="18" charset="0"/>
                <a:cs typeface="Times New Roman" panose="02020603050405020304" pitchFamily="18" charset="0"/>
              </a:rPr>
              <a:t> dello stesso. Oltre a stampare alcune caratteristiche del modello che verrà addestrato, lo compila secondo le metriche specificate in </a:t>
            </a:r>
            <a:r>
              <a:rPr lang="it-IT" i="1" dirty="0" err="1">
                <a:latin typeface="Times New Roman" panose="02020603050405020304" pitchFamily="18" charset="0"/>
                <a:cs typeface="Times New Roman" panose="02020603050405020304" pitchFamily="18" charset="0"/>
              </a:rPr>
              <a:t>metrics</a:t>
            </a:r>
            <a:r>
              <a:rPr lang="it-IT" dirty="0">
                <a:latin typeface="Times New Roman" panose="02020603050405020304" pitchFamily="18" charset="0"/>
                <a:cs typeface="Times New Roman" panose="02020603050405020304" pitchFamily="18" charset="0"/>
              </a:rPr>
              <a:t>, lo addestra utilizzando il set di </a:t>
            </a:r>
            <a:r>
              <a:rPr lang="it-IT" dirty="0" err="1">
                <a:latin typeface="Times New Roman" panose="02020603050405020304" pitchFamily="18" charset="0"/>
                <a:cs typeface="Times New Roman" panose="02020603050405020304" pitchFamily="18" charset="0"/>
              </a:rPr>
              <a:t>iperparametri</a:t>
            </a:r>
            <a:r>
              <a:rPr lang="it-IT" dirty="0">
                <a:latin typeface="Times New Roman" panose="02020603050405020304" pitchFamily="18" charset="0"/>
                <a:cs typeface="Times New Roman" panose="02020603050405020304" pitchFamily="18" charset="0"/>
              </a:rPr>
              <a:t> desiderato, ed infine ne valuta le performance sfruttando il test set e stampando i risultati ed i grafici ottenuti.</a:t>
            </a:r>
          </a:p>
          <a:p>
            <a:pPr algn="just"/>
            <a:endParaRPr lang="it-IT" dirty="0"/>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5854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Modularità del codice   (5/6)</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206588"/>
            <a:ext cx="2215221" cy="554666"/>
          </a:xfrm>
          <a:prstGeom prst="rect">
            <a:avLst/>
          </a:prstGeom>
        </p:spPr>
      </p:pic>
      <p:sp>
        <p:nvSpPr>
          <p:cNvPr id="3" name="CasellaDiTesto 2">
            <a:extLst>
              <a:ext uri="{FF2B5EF4-FFF2-40B4-BE49-F238E27FC236}">
                <a16:creationId xmlns:a16="http://schemas.microsoft.com/office/drawing/2014/main" id="{F273295E-11C0-1A4C-8171-1AA2206B7DB7}"/>
              </a:ext>
            </a:extLst>
          </p:cNvPr>
          <p:cNvSpPr txBox="1"/>
          <p:nvPr/>
        </p:nvSpPr>
        <p:spPr>
          <a:xfrm>
            <a:off x="387870" y="1582973"/>
            <a:ext cx="9228623" cy="5355312"/>
          </a:xfrm>
          <a:prstGeom prst="rect">
            <a:avLst/>
          </a:prstGeom>
          <a:noFill/>
        </p:spPr>
        <p:txBody>
          <a:bodyPr wrap="square" rtlCol="0">
            <a:spAutoFit/>
          </a:bodyPr>
          <a:lstStyle/>
          <a:p>
            <a:pPr algn="just"/>
            <a:r>
              <a:rPr lang="it-IT" b="1" dirty="0" err="1">
                <a:latin typeface="Times New Roman" panose="02020603050405020304" pitchFamily="18" charset="0"/>
                <a:cs typeface="Times New Roman" panose="02020603050405020304" pitchFamily="18" charset="0"/>
              </a:rPr>
              <a:t>Main</a:t>
            </a:r>
            <a:r>
              <a:rPr lang="it-IT" b="1" dirty="0">
                <a:latin typeface="Times New Roman" panose="02020603050405020304" pitchFamily="18" charset="0"/>
                <a:cs typeface="Times New Roman" panose="02020603050405020304" pitchFamily="18" charset="0"/>
              </a:rPr>
              <a:t> (1/2):</a:t>
            </a:r>
          </a:p>
          <a:p>
            <a:pPr algn="just"/>
            <a:r>
              <a:rPr lang="it-IT" dirty="0">
                <a:latin typeface="Times New Roman" panose="02020603050405020304" pitchFamily="18" charset="0"/>
                <a:cs typeface="Times New Roman" panose="02020603050405020304" pitchFamily="18" charset="0"/>
              </a:rPr>
              <a:t>È il centro di comando del progetto, contiene tutti i principali parametri su cui è necessario intervenire per addestrare e testare le performance di diverse reti in sequenza. Le scelte più importanti di addestramento devono essere fatte su:</a:t>
            </a:r>
          </a:p>
          <a:p>
            <a:pPr marL="285750" indent="-285750" algn="just">
              <a:buFont typeface="Arial" panose="020B0604020202020204" pitchFamily="34" charset="0"/>
              <a:buChar char="•"/>
            </a:pPr>
            <a:r>
              <a:rPr lang="it-IT" b="1" dirty="0">
                <a:latin typeface="Times New Roman" panose="02020603050405020304" pitchFamily="18" charset="0"/>
                <a:cs typeface="Times New Roman" panose="02020603050405020304" pitchFamily="18" charset="0"/>
              </a:rPr>
              <a:t>[</a:t>
            </a:r>
            <a:r>
              <a:rPr lang="it-IT" b="1" dirty="0" err="1">
                <a:latin typeface="Times New Roman" panose="02020603050405020304" pitchFamily="18" charset="0"/>
                <a:cs typeface="Times New Roman" panose="02020603050405020304" pitchFamily="18" charset="0"/>
              </a:rPr>
              <a:t>models_to_run</a:t>
            </a:r>
            <a:r>
              <a:rPr lang="it-IT" b="1" dirty="0">
                <a:latin typeface="Times New Roman" panose="02020603050405020304" pitchFamily="18" charset="0"/>
                <a:cs typeface="Times New Roman" panose="02020603050405020304" pitchFamily="18" charset="0"/>
              </a:rPr>
              <a:t>]:</a:t>
            </a:r>
            <a:r>
              <a:rPr lang="it-IT" dirty="0"/>
              <a:t> </a:t>
            </a:r>
            <a:r>
              <a:rPr lang="it-IT" dirty="0">
                <a:latin typeface="Times New Roman" panose="02020603050405020304" pitchFamily="18" charset="0"/>
                <a:cs typeface="Times New Roman" panose="02020603050405020304" pitchFamily="18" charset="0"/>
              </a:rPr>
              <a:t>è una lista di interi dove ciascun numero è associato ad un modello diverso da testare. I modelli vengono dunque addestrati e testati nella sequenza specificata utilizzando vari set di </a:t>
            </a:r>
            <a:r>
              <a:rPr lang="it-IT" dirty="0" err="1">
                <a:latin typeface="Times New Roman" panose="02020603050405020304" pitchFamily="18" charset="0"/>
                <a:cs typeface="Times New Roman" panose="02020603050405020304" pitchFamily="18" charset="0"/>
              </a:rPr>
              <a:t>iperparametri</a:t>
            </a:r>
            <a:r>
              <a:rPr lang="it-IT" dirty="0">
                <a:latin typeface="Times New Roman" panose="02020603050405020304" pitchFamily="18" charset="0"/>
                <a:cs typeface="Times New Roman" panose="02020603050405020304" pitchFamily="18" charset="0"/>
              </a:rPr>
              <a:t> che </a:t>
            </a:r>
            <a:r>
              <a:rPr lang="it-IT" dirty="0" err="1">
                <a:latin typeface="Times New Roman" panose="02020603050405020304" pitchFamily="18" charset="0"/>
                <a:cs typeface="Times New Roman" panose="02020603050405020304" pitchFamily="18" charset="0"/>
              </a:rPr>
              <a:t>verrano</a:t>
            </a:r>
            <a:r>
              <a:rPr lang="it-IT" dirty="0">
                <a:latin typeface="Times New Roman" panose="02020603050405020304" pitchFamily="18" charset="0"/>
                <a:cs typeface="Times New Roman" panose="02020603050405020304" pitchFamily="18" charset="0"/>
              </a:rPr>
              <a:t> elencati nella lista [</a:t>
            </a:r>
            <a:r>
              <a:rPr lang="it-IT" dirty="0" err="1">
                <a:latin typeface="Times New Roman" panose="02020603050405020304" pitchFamily="18" charset="0"/>
                <a:cs typeface="Times New Roman" panose="02020603050405020304" pitchFamily="18" charset="0"/>
              </a:rPr>
              <a:t>hyp_set</a:t>
            </a:r>
            <a:r>
              <a:rPr lang="it-IT" dirty="0">
                <a:latin typeface="Times New Roman" panose="02020603050405020304" pitchFamily="18" charset="0"/>
                <a:cs typeface="Times New Roman" panose="02020603050405020304" pitchFamily="18" charset="0"/>
              </a:rPr>
              <a:t>]</a:t>
            </a:r>
            <a:r>
              <a:rPr lang="it-IT" dirty="0"/>
              <a:t>. </a:t>
            </a:r>
            <a:r>
              <a:rPr lang="it-IT" dirty="0">
                <a:latin typeface="Times New Roman" panose="02020603050405020304" pitchFamily="18" charset="0"/>
                <a:cs typeface="Times New Roman" panose="02020603050405020304" pitchFamily="18" charset="0"/>
              </a:rPr>
              <a:t>I numeri delle reti sono raggruppati nel seguente modo:</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Reti 1-99 : modelli custom</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Reti 100-199 : modelli VGG16</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Reti 200-299 : modelli VGG19</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Reti 300-399 : modelli ResNet50V2</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Reti 400-499 : modelli InceptionV3</a:t>
            </a:r>
          </a:p>
          <a:p>
            <a:pPr lvl="1" algn="just"/>
            <a:r>
              <a:rPr lang="it-IT" dirty="0">
                <a:latin typeface="Times New Roman" panose="02020603050405020304" pitchFamily="18" charset="0"/>
                <a:cs typeface="Times New Roman" panose="02020603050405020304" pitchFamily="18" charset="0"/>
              </a:rPr>
              <a:t>Inserendo </a:t>
            </a:r>
            <a:r>
              <a:rPr lang="it-IT" b="1" dirty="0">
                <a:latin typeface="Times New Roman" panose="02020603050405020304" pitchFamily="18" charset="0"/>
                <a:cs typeface="Times New Roman" panose="02020603050405020304" pitchFamily="18" charset="0"/>
              </a:rPr>
              <a:t>il segno - davanti al numero del modello</a:t>
            </a:r>
            <a:r>
              <a:rPr lang="it-IT" dirty="0">
                <a:latin typeface="Times New Roman" panose="02020603050405020304" pitchFamily="18" charset="0"/>
                <a:cs typeface="Times New Roman" panose="02020603050405020304" pitchFamily="18" charset="0"/>
              </a:rPr>
              <a:t>, quest’ultimo verrà testato </a:t>
            </a:r>
            <a:r>
              <a:rPr lang="it-IT" b="1" dirty="0">
                <a:latin typeface="Times New Roman" panose="02020603050405020304" pitchFamily="18" charset="0"/>
                <a:cs typeface="Times New Roman" panose="02020603050405020304" pitchFamily="18" charset="0"/>
              </a:rPr>
              <a:t>senza</a:t>
            </a:r>
            <a:r>
              <a:rPr lang="it-IT" dirty="0">
                <a:latin typeface="Times New Roman" panose="02020603050405020304" pitchFamily="18" charset="0"/>
                <a:cs typeface="Times New Roman" panose="02020603050405020304" pitchFamily="18" charset="0"/>
              </a:rPr>
              <a:t> caricare le immagini costruite con le tecniche di </a:t>
            </a:r>
            <a:r>
              <a:rPr lang="it-IT" b="1" dirty="0">
                <a:latin typeface="Times New Roman" panose="02020603050405020304" pitchFamily="18" charset="0"/>
                <a:cs typeface="Times New Roman" panose="02020603050405020304" pitchFamily="18" charset="0"/>
              </a:rPr>
              <a:t>Data </a:t>
            </a:r>
            <a:r>
              <a:rPr lang="it-IT" b="1" dirty="0" err="1">
                <a:latin typeface="Times New Roman" panose="02020603050405020304" pitchFamily="18" charset="0"/>
                <a:cs typeface="Times New Roman" panose="02020603050405020304" pitchFamily="18" charset="0"/>
              </a:rPr>
              <a:t>Augmentation</a:t>
            </a:r>
            <a:r>
              <a:rPr lang="it-IT" dirty="0">
                <a:latin typeface="Times New Roman" panose="02020603050405020304" pitchFamily="18" charset="0"/>
                <a:cs typeface="Times New Roman" panose="02020603050405020304" pitchFamily="18" charset="0"/>
              </a:rPr>
              <a:t>, con il </a:t>
            </a:r>
            <a:r>
              <a:rPr lang="it-IT" b="1" dirty="0">
                <a:latin typeface="Times New Roman" panose="02020603050405020304" pitchFamily="18" charset="0"/>
                <a:cs typeface="Times New Roman" panose="02020603050405020304" pitchFamily="18" charset="0"/>
              </a:rPr>
              <a:t>segno +</a:t>
            </a:r>
            <a:r>
              <a:rPr lang="it-IT" dirty="0">
                <a:latin typeface="Times New Roman" panose="02020603050405020304" pitchFamily="18" charset="0"/>
                <a:cs typeface="Times New Roman" panose="02020603050405020304" pitchFamily="18" charset="0"/>
              </a:rPr>
              <a:t> invece verranno considerate anche le </a:t>
            </a:r>
            <a:r>
              <a:rPr lang="it-IT" b="1" dirty="0">
                <a:latin typeface="Times New Roman" panose="02020603050405020304" pitchFamily="18" charset="0"/>
                <a:cs typeface="Times New Roman" panose="02020603050405020304" pitchFamily="18" charset="0"/>
              </a:rPr>
              <a:t>immagini</a:t>
            </a:r>
            <a:r>
              <a:rPr lang="it-IT" dirty="0">
                <a:latin typeface="Times New Roman" panose="02020603050405020304" pitchFamily="18" charset="0"/>
                <a:cs typeface="Times New Roman" panose="02020603050405020304" pitchFamily="18" charset="0"/>
              </a:rPr>
              <a:t> </a:t>
            </a:r>
            <a:r>
              <a:rPr lang="it-IT" b="1" dirty="0">
                <a:latin typeface="Times New Roman" panose="02020603050405020304" pitchFamily="18" charset="0"/>
                <a:cs typeface="Times New Roman" panose="02020603050405020304" pitchFamily="18" charset="0"/>
              </a:rPr>
              <a:t>aumentate</a:t>
            </a:r>
            <a:r>
              <a:rPr lang="it-IT" dirty="0">
                <a:latin typeface="Times New Roman" panose="02020603050405020304" pitchFamily="18" charset="0"/>
                <a:cs typeface="Times New Roman" panose="02020603050405020304" pitchFamily="18" charset="0"/>
              </a:rPr>
              <a:t>.</a:t>
            </a:r>
          </a:p>
          <a:p>
            <a:pPr lvl="1" algn="just"/>
            <a:endParaRPr lang="it-IT" dirty="0">
              <a:latin typeface="Times New Roman" panose="02020603050405020304" pitchFamily="18" charset="0"/>
              <a:cs typeface="Times New Roman" panose="02020603050405020304" pitchFamily="18" charset="0"/>
            </a:endParaRPr>
          </a:p>
          <a:p>
            <a:pPr lvl="1" algn="just"/>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0907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Modularità del codice   (6/6)</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206588"/>
            <a:ext cx="2215221" cy="554666"/>
          </a:xfrm>
          <a:prstGeom prst="rect">
            <a:avLst/>
          </a:prstGeom>
        </p:spPr>
      </p:pic>
      <p:sp>
        <p:nvSpPr>
          <p:cNvPr id="3" name="CasellaDiTesto 2">
            <a:extLst>
              <a:ext uri="{FF2B5EF4-FFF2-40B4-BE49-F238E27FC236}">
                <a16:creationId xmlns:a16="http://schemas.microsoft.com/office/drawing/2014/main" id="{F273295E-11C0-1A4C-8171-1AA2206B7DB7}"/>
              </a:ext>
            </a:extLst>
          </p:cNvPr>
          <p:cNvSpPr txBox="1"/>
          <p:nvPr/>
        </p:nvSpPr>
        <p:spPr>
          <a:xfrm>
            <a:off x="387870" y="1582973"/>
            <a:ext cx="9228623" cy="5632311"/>
          </a:xfrm>
          <a:prstGeom prst="rect">
            <a:avLst/>
          </a:prstGeom>
          <a:noFill/>
        </p:spPr>
        <p:txBody>
          <a:bodyPr wrap="square" rtlCol="0">
            <a:spAutoFit/>
          </a:bodyPr>
          <a:lstStyle/>
          <a:p>
            <a:pPr algn="just"/>
            <a:r>
              <a:rPr lang="it-IT" b="1" dirty="0" err="1">
                <a:latin typeface="Times New Roman" panose="02020603050405020304" pitchFamily="18" charset="0"/>
                <a:cs typeface="Times New Roman" panose="02020603050405020304" pitchFamily="18" charset="0"/>
              </a:rPr>
              <a:t>Main</a:t>
            </a:r>
            <a:r>
              <a:rPr lang="it-IT" b="1" dirty="0">
                <a:latin typeface="Times New Roman" panose="02020603050405020304" pitchFamily="18" charset="0"/>
                <a:cs typeface="Times New Roman" panose="02020603050405020304" pitchFamily="18" charset="0"/>
              </a:rPr>
              <a:t> (2/2):</a:t>
            </a:r>
          </a:p>
          <a:p>
            <a:pPr marL="285750" indent="-285750" algn="just">
              <a:buFont typeface="Arial" panose="020B0604020202020204" pitchFamily="34" charset="0"/>
              <a:buChar char="•"/>
            </a:pPr>
            <a:r>
              <a:rPr lang="it-IT" b="1" dirty="0">
                <a:latin typeface="Times New Roman" panose="02020603050405020304" pitchFamily="18" charset="0"/>
                <a:cs typeface="Times New Roman" panose="02020603050405020304" pitchFamily="18" charset="0"/>
              </a:rPr>
              <a:t>[</a:t>
            </a:r>
            <a:r>
              <a:rPr lang="it-IT" b="1" dirty="0" err="1">
                <a:latin typeface="Times New Roman" panose="02020603050405020304" pitchFamily="18" charset="0"/>
                <a:cs typeface="Times New Roman" panose="02020603050405020304" pitchFamily="18" charset="0"/>
              </a:rPr>
              <a:t>hyp_set</a:t>
            </a:r>
            <a:r>
              <a:rPr lang="it-IT" b="1" dirty="0">
                <a:latin typeface="Times New Roman" panose="02020603050405020304" pitchFamily="18" charset="0"/>
                <a:cs typeface="Times New Roman" panose="02020603050405020304" pitchFamily="18" charset="0"/>
              </a:rPr>
              <a:t>]:</a:t>
            </a:r>
            <a:r>
              <a:rPr lang="it-IT" b="1" dirty="0"/>
              <a:t> </a:t>
            </a:r>
            <a:r>
              <a:rPr lang="it-IT" dirty="0">
                <a:latin typeface="Times New Roman" panose="02020603050405020304" pitchFamily="18" charset="0"/>
                <a:cs typeface="Times New Roman" panose="02020603050405020304" pitchFamily="18" charset="0"/>
              </a:rPr>
              <a:t>è una lista di dizionari in cui ogni entry rappresenta un </a:t>
            </a:r>
            <a:r>
              <a:rPr lang="it-IT" dirty="0" err="1">
                <a:latin typeface="Times New Roman" panose="02020603050405020304" pitchFamily="18" charset="0"/>
                <a:cs typeface="Times New Roman" panose="02020603050405020304" pitchFamily="18" charset="0"/>
              </a:rPr>
              <a:t>iperparametro</a:t>
            </a:r>
            <a:r>
              <a:rPr lang="it-IT" dirty="0">
                <a:latin typeface="Times New Roman" panose="02020603050405020304" pitchFamily="18" charset="0"/>
                <a:cs typeface="Times New Roman" panose="02020603050405020304" pitchFamily="18" charset="0"/>
              </a:rPr>
              <a:t> e il relativo valore associato. Di conseguenza è possibile addestrare lo stesso modello in sequenza su set di </a:t>
            </a:r>
            <a:r>
              <a:rPr lang="it-IT" dirty="0" err="1">
                <a:latin typeface="Times New Roman" panose="02020603050405020304" pitchFamily="18" charset="0"/>
                <a:cs typeface="Times New Roman" panose="02020603050405020304" pitchFamily="18" charset="0"/>
              </a:rPr>
              <a:t>iperparametri</a:t>
            </a:r>
            <a:r>
              <a:rPr lang="it-IT" dirty="0">
                <a:latin typeface="Times New Roman" panose="02020603050405020304" pitchFamily="18" charset="0"/>
                <a:cs typeface="Times New Roman" panose="02020603050405020304" pitchFamily="18" charset="0"/>
              </a:rPr>
              <a:t> diversi. Ogni set è associato ad un indice (quello della lista) a partire da 0.</a:t>
            </a:r>
          </a:p>
          <a:p>
            <a:pPr marL="285750" indent="-285750" algn="just">
              <a:buFont typeface="Arial" panose="020B0604020202020204" pitchFamily="34" charset="0"/>
              <a:buChar char="•"/>
            </a:pPr>
            <a:r>
              <a:rPr lang="it-IT" b="1" dirty="0">
                <a:latin typeface="Times New Roman" panose="02020603050405020304" pitchFamily="18" charset="0"/>
                <a:cs typeface="Times New Roman" panose="02020603050405020304" pitchFamily="18" charset="0"/>
              </a:rPr>
              <a:t>[</a:t>
            </a:r>
            <a:r>
              <a:rPr lang="it-IT" b="1" dirty="0" err="1">
                <a:latin typeface="Times New Roman" panose="02020603050405020304" pitchFamily="18" charset="0"/>
                <a:cs typeface="Times New Roman" panose="02020603050405020304" pitchFamily="18" charset="0"/>
              </a:rPr>
              <a:t>metrics</a:t>
            </a:r>
            <a:r>
              <a:rPr lang="it-IT" b="1" dirty="0">
                <a:latin typeface="Times New Roman" panose="02020603050405020304" pitchFamily="18" charset="0"/>
                <a:cs typeface="Times New Roman" panose="02020603050405020304" pitchFamily="18" charset="0"/>
              </a:rPr>
              <a:t>]: </a:t>
            </a:r>
            <a:r>
              <a:rPr lang="it-IT" dirty="0">
                <a:latin typeface="Times New Roman" panose="02020603050405020304" pitchFamily="18" charset="0"/>
                <a:cs typeface="Times New Roman" panose="02020603050405020304" pitchFamily="18" charset="0"/>
              </a:rPr>
              <a:t>è la lista delle metriche che verranno stampate durante l'addestramento dei modelli. Si rimanda alla sezione Metrica per la presentazione di quella che abbiamo scelto come riferimento per valutare la bontà dei modelli: </a:t>
            </a:r>
            <a:r>
              <a:rPr lang="it-IT" i="1" dirty="0">
                <a:latin typeface="Times New Roman" panose="02020603050405020304" pitchFamily="18" charset="0"/>
                <a:cs typeface="Times New Roman" panose="02020603050405020304" pitchFamily="18" charset="0"/>
              </a:rPr>
              <a:t>l'</a:t>
            </a:r>
            <a:r>
              <a:rPr lang="it-IT" i="1" dirty="0" err="1">
                <a:latin typeface="Times New Roman" panose="02020603050405020304" pitchFamily="18" charset="0"/>
                <a:cs typeface="Times New Roman" panose="02020603050405020304" pitchFamily="18" charset="0"/>
              </a:rPr>
              <a:t>average-weighted</a:t>
            </a:r>
            <a:r>
              <a:rPr lang="it-IT" i="1" dirty="0">
                <a:latin typeface="Times New Roman" panose="02020603050405020304" pitchFamily="18" charset="0"/>
                <a:cs typeface="Times New Roman" panose="02020603050405020304" pitchFamily="18" charset="0"/>
              </a:rPr>
              <a:t> F1-Score</a:t>
            </a:r>
            <a:r>
              <a:rPr lang="it-IT"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Infine in questa parte di codice avviene il </a:t>
            </a:r>
            <a:r>
              <a:rPr lang="it-IT" b="1" dirty="0" err="1">
                <a:latin typeface="Times New Roman" panose="02020603050405020304" pitchFamily="18" charset="0"/>
                <a:cs typeface="Times New Roman" panose="02020603050405020304" pitchFamily="18" charset="0"/>
              </a:rPr>
              <a:t>binding</a:t>
            </a:r>
            <a:r>
              <a:rPr lang="it-IT" dirty="0">
                <a:latin typeface="Times New Roman" panose="02020603050405020304" pitchFamily="18" charset="0"/>
                <a:cs typeface="Times New Roman" panose="02020603050405020304" pitchFamily="18" charset="0"/>
              </a:rPr>
              <a:t> tra il </a:t>
            </a:r>
            <a:r>
              <a:rPr lang="it-IT" b="1" dirty="0">
                <a:latin typeface="Times New Roman" panose="02020603050405020304" pitchFamily="18" charset="0"/>
                <a:cs typeface="Times New Roman" panose="02020603050405020304" pitchFamily="18" charset="0"/>
              </a:rPr>
              <a:t>numero intero che rappresenta </a:t>
            </a:r>
            <a:r>
              <a:rPr lang="it-IT" dirty="0">
                <a:latin typeface="Times New Roman" panose="02020603050405020304" pitchFamily="18" charset="0"/>
                <a:cs typeface="Times New Roman" panose="02020603050405020304" pitchFamily="18" charset="0"/>
              </a:rPr>
              <a:t>il modello e la </a:t>
            </a:r>
            <a:r>
              <a:rPr lang="it-IT" b="1" dirty="0">
                <a:latin typeface="Times New Roman" panose="02020603050405020304" pitchFamily="18" charset="0"/>
                <a:cs typeface="Times New Roman" panose="02020603050405020304" pitchFamily="18" charset="0"/>
              </a:rPr>
              <a:t>funzione</a:t>
            </a:r>
            <a:r>
              <a:rPr lang="it-IT" dirty="0">
                <a:latin typeface="Times New Roman" panose="02020603050405020304" pitchFamily="18" charset="0"/>
                <a:cs typeface="Times New Roman" panose="02020603050405020304" pitchFamily="18" charset="0"/>
              </a:rPr>
              <a:t> che effettivamente </a:t>
            </a:r>
            <a:r>
              <a:rPr lang="it-IT" b="1" dirty="0">
                <a:latin typeface="Times New Roman" panose="02020603050405020304" pitchFamily="18" charset="0"/>
                <a:cs typeface="Times New Roman" panose="02020603050405020304" pitchFamily="18" charset="0"/>
              </a:rPr>
              <a:t>definisce il modello</a:t>
            </a:r>
            <a:r>
              <a:rPr lang="it-IT" dirty="0">
                <a:latin typeface="Times New Roman" panose="02020603050405020304" pitchFamily="18" charset="0"/>
                <a:cs typeface="Times New Roman" panose="02020603050405020304" pitchFamily="18" charset="0"/>
              </a:rPr>
              <a:t> stesso, tramite </a:t>
            </a:r>
            <a:r>
              <a:rPr lang="it-IT" dirty="0" err="1">
                <a:latin typeface="Times New Roman" panose="02020603050405020304" pitchFamily="18" charset="0"/>
                <a:cs typeface="Times New Roman" panose="02020603050405020304" pitchFamily="18" charset="0"/>
              </a:rPr>
              <a:t>if</a:t>
            </a:r>
            <a:r>
              <a:rPr lang="it-IT" dirty="0">
                <a:latin typeface="Times New Roman" panose="02020603050405020304" pitchFamily="18" charset="0"/>
                <a:cs typeface="Times New Roman" panose="02020603050405020304" pitchFamily="18" charset="0"/>
              </a:rPr>
              <a:t> in cascata. </a:t>
            </a:r>
          </a:p>
          <a:p>
            <a:pPr algn="just"/>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Poiché ogni network ha una certa dimensione minima di immagini che può processare, il caricamento delle immagini dal </a:t>
            </a:r>
            <a:r>
              <a:rPr lang="it-IT" dirty="0" err="1">
                <a:latin typeface="Times New Roman" panose="02020603050405020304" pitchFamily="18" charset="0"/>
                <a:cs typeface="Times New Roman" panose="02020603050405020304" pitchFamily="18" charset="0"/>
              </a:rPr>
              <a:t>dataset</a:t>
            </a:r>
            <a:r>
              <a:rPr lang="it-IT" dirty="0">
                <a:latin typeface="Times New Roman" panose="02020603050405020304" pitchFamily="18" charset="0"/>
                <a:cs typeface="Times New Roman" panose="02020603050405020304" pitchFamily="18" charset="0"/>
              </a:rPr>
              <a:t> verrà fatto modello per modello. </a:t>
            </a:r>
          </a:p>
          <a:p>
            <a:pPr algn="just"/>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Tutti i modelli da testare verranno dunque addestrati e valutati in sequenza, sui set di </a:t>
            </a:r>
            <a:r>
              <a:rPr lang="it-IT" dirty="0" err="1">
                <a:latin typeface="Times New Roman" panose="02020603050405020304" pitchFamily="18" charset="0"/>
                <a:cs typeface="Times New Roman" panose="02020603050405020304" pitchFamily="18" charset="0"/>
              </a:rPr>
              <a:t>iper</a:t>
            </a:r>
            <a:r>
              <a:rPr lang="it-IT" dirty="0">
                <a:latin typeface="Times New Roman" panose="02020603050405020304" pitchFamily="18" charset="0"/>
                <a:cs typeface="Times New Roman" panose="02020603050405020304" pitchFamily="18" charset="0"/>
              </a:rPr>
              <a:t>-parametri specificati.</a:t>
            </a: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pPr algn="just"/>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2858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Metrica</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202243"/>
            <a:ext cx="2215221" cy="554666"/>
          </a:xfrm>
          <a:prstGeom prst="rect">
            <a:avLst/>
          </a:prstGeom>
        </p:spPr>
      </p:pic>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F273295E-11C0-1A4C-8171-1AA2206B7DB7}"/>
                  </a:ext>
                </a:extLst>
              </p:cNvPr>
              <p:cNvSpPr txBox="1"/>
              <p:nvPr/>
            </p:nvSpPr>
            <p:spPr>
              <a:xfrm>
                <a:off x="387870" y="1582973"/>
                <a:ext cx="9228623" cy="4500848"/>
              </a:xfrm>
              <a:prstGeom prst="rect">
                <a:avLst/>
              </a:prstGeom>
              <a:noFill/>
            </p:spPr>
            <p:txBody>
              <a:bodyPr wrap="square" rtlCol="0">
                <a:spAutoFit/>
              </a:bodyPr>
              <a:lstStyle/>
              <a:p>
                <a:pPr algn="just"/>
                <a:r>
                  <a:rPr lang="it-IT" dirty="0">
                    <a:latin typeface="Times New Roman" panose="02020603050405020304" pitchFamily="18" charset="0"/>
                    <a:cs typeface="Times New Roman" panose="02020603050405020304" pitchFamily="18" charset="0"/>
                  </a:rPr>
                  <a:t>Con riferimento allo </a:t>
                </a:r>
                <a:r>
                  <a:rPr lang="it-IT" b="1" dirty="0">
                    <a:latin typeface="Times New Roman" panose="02020603050405020304" pitchFamily="18" charset="0"/>
                    <a:cs typeface="Times New Roman" panose="02020603050405020304" pitchFamily="18" charset="0"/>
                  </a:rPr>
                  <a:t>sbilanciamento</a:t>
                </a:r>
                <a:r>
                  <a:rPr lang="it-IT" dirty="0">
                    <a:latin typeface="Times New Roman" panose="02020603050405020304" pitchFamily="18" charset="0"/>
                    <a:cs typeface="Times New Roman" panose="02020603050405020304" pitchFamily="18" charset="0"/>
                  </a:rPr>
                  <a:t> del </a:t>
                </a:r>
                <a:r>
                  <a:rPr lang="it-IT" dirty="0" err="1">
                    <a:latin typeface="Times New Roman" panose="02020603050405020304" pitchFamily="18" charset="0"/>
                    <a:cs typeface="Times New Roman" panose="02020603050405020304" pitchFamily="18" charset="0"/>
                  </a:rPr>
                  <a:t>Dataset</a:t>
                </a:r>
                <a:r>
                  <a:rPr lang="it-IT" dirty="0">
                    <a:latin typeface="Times New Roman" panose="02020603050405020304" pitchFamily="18" charset="0"/>
                    <a:cs typeface="Times New Roman" panose="02020603050405020304" pitchFamily="18" charset="0"/>
                  </a:rPr>
                  <a:t>, si è scelto di adottare come metrica di riferimento </a:t>
                </a:r>
                <a:r>
                  <a:rPr lang="it-IT" b="1" dirty="0">
                    <a:latin typeface="Times New Roman" panose="02020603050405020304" pitchFamily="18" charset="0"/>
                    <a:cs typeface="Times New Roman" panose="02020603050405020304" pitchFamily="18" charset="0"/>
                  </a:rPr>
                  <a:t>l'</a:t>
                </a:r>
                <a:r>
                  <a:rPr lang="it-IT" b="1" dirty="0" err="1">
                    <a:latin typeface="Times New Roman" panose="02020603050405020304" pitchFamily="18" charset="0"/>
                    <a:cs typeface="Times New Roman" panose="02020603050405020304" pitchFamily="18" charset="0"/>
                  </a:rPr>
                  <a:t>average-weighted</a:t>
                </a:r>
                <a:r>
                  <a:rPr lang="it-IT" b="1" dirty="0">
                    <a:latin typeface="Times New Roman" panose="02020603050405020304" pitchFamily="18" charset="0"/>
                    <a:cs typeface="Times New Roman" panose="02020603050405020304" pitchFamily="18" charset="0"/>
                  </a:rPr>
                  <a:t> F1-Score</a:t>
                </a:r>
                <a:r>
                  <a:rPr lang="it-IT" dirty="0">
                    <a:latin typeface="Times New Roman" panose="02020603050405020304" pitchFamily="18" charset="0"/>
                    <a:cs typeface="Times New Roman" panose="02020603050405020304" pitchFamily="18" charset="0"/>
                  </a:rPr>
                  <a:t>.</a:t>
                </a:r>
              </a:p>
              <a:p>
                <a:pPr algn="just"/>
                <a:endParaRPr lang="it-IT" dirty="0">
                  <a:latin typeface="Times New Roman" panose="02020603050405020304" pitchFamily="18" charset="0"/>
                  <a:cs typeface="Times New Roman" panose="02020603050405020304" pitchFamily="18" charset="0"/>
                </a:endParaRPr>
              </a:p>
              <a:p>
                <a:pPr algn="just"/>
                <a:r>
                  <a:rPr lang="it-IT" b="1" u="sng" dirty="0">
                    <a:latin typeface="Times New Roman" panose="02020603050405020304" pitchFamily="18" charset="0"/>
                    <a:cs typeface="Times New Roman" panose="02020603050405020304" pitchFamily="18" charset="0"/>
                  </a:rPr>
                  <a:t>L'F1-Score non è che altro che la media armonica di Precision e </a:t>
                </a:r>
                <a:r>
                  <a:rPr lang="it-IT" b="1" u="sng" dirty="0" err="1">
                    <a:latin typeface="Times New Roman" panose="02020603050405020304" pitchFamily="18" charset="0"/>
                    <a:cs typeface="Times New Roman" panose="02020603050405020304" pitchFamily="18" charset="0"/>
                  </a:rPr>
                  <a:t>Recall</a:t>
                </a:r>
                <a:r>
                  <a:rPr lang="it-IT" b="1" u="sng" dirty="0">
                    <a:latin typeface="Times New Roman" panose="02020603050405020304" pitchFamily="18" charset="0"/>
                    <a:cs typeface="Times New Roman" panose="02020603050405020304" pitchFamily="18" charset="0"/>
                  </a:rPr>
                  <a:t>.</a:t>
                </a:r>
              </a:p>
              <a:p>
                <a:pPr algn="just"/>
                <a:r>
                  <a:rPr lang="it-IT" b="1" u="sng" dirty="0">
                    <a:latin typeface="Times New Roman" panose="02020603050405020304" pitchFamily="18" charset="0"/>
                    <a:cs typeface="Times New Roman" panose="02020603050405020304" pitchFamily="18" charset="0"/>
                  </a:rPr>
                  <a:t>Si è scelto di non privilegiare nessuna delle due dato che non è di nostro interesse minimizzare il false positive rate né il false negative rate.</a:t>
                </a:r>
              </a:p>
              <a:p>
                <a:endParaRPr lang="it-IT" b="1" u="sng"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it-IT">
                          <a:latin typeface="Cambria Math" panose="02040503050406030204" pitchFamily="18" charset="0"/>
                          <a:cs typeface="Times New Roman" panose="02020603050405020304" pitchFamily="18" charset="0"/>
                        </a:rPr>
                        <m:t>𝐹</m:t>
                      </m:r>
                      <m:r>
                        <a:rPr lang="it-IT">
                          <a:latin typeface="Cambria Math" panose="02040503050406030204" pitchFamily="18" charset="0"/>
                          <a:cs typeface="Times New Roman" panose="02020603050405020304" pitchFamily="18" charset="0"/>
                        </a:rPr>
                        <m:t>1=</m:t>
                      </m:r>
                      <m:f>
                        <m:fPr>
                          <m:ctrlPr>
                            <a:rPr lang="it-IT" i="1">
                              <a:latin typeface="Cambria Math" panose="02040503050406030204" pitchFamily="18" charset="0"/>
                              <a:cs typeface="Times New Roman" panose="02020603050405020304" pitchFamily="18" charset="0"/>
                            </a:rPr>
                          </m:ctrlPr>
                        </m:fPr>
                        <m:num>
                          <m:r>
                            <a:rPr lang="it-IT">
                              <a:latin typeface="Cambria Math" panose="02040503050406030204" pitchFamily="18" charset="0"/>
                              <a:cs typeface="Times New Roman" panose="02020603050405020304" pitchFamily="18" charset="0"/>
                            </a:rPr>
                            <m:t>2∙</m:t>
                          </m:r>
                          <m:r>
                            <a:rPr lang="it-IT">
                              <a:latin typeface="Cambria Math" panose="02040503050406030204" pitchFamily="18" charset="0"/>
                              <a:cs typeface="Times New Roman" panose="02020603050405020304" pitchFamily="18" charset="0"/>
                            </a:rPr>
                            <m:t>𝑃𝑟𝑒𝑐𝑖𝑠𝑖𝑜𝑛</m:t>
                          </m:r>
                          <m:r>
                            <a:rPr lang="it-IT">
                              <a:latin typeface="Cambria Math" panose="02040503050406030204" pitchFamily="18" charset="0"/>
                              <a:cs typeface="Times New Roman" panose="02020603050405020304" pitchFamily="18" charset="0"/>
                            </a:rPr>
                            <m:t> ∙</m:t>
                          </m:r>
                          <m:r>
                            <a:rPr lang="it-IT">
                              <a:latin typeface="Cambria Math" panose="02040503050406030204" pitchFamily="18" charset="0"/>
                              <a:cs typeface="Times New Roman" panose="02020603050405020304" pitchFamily="18" charset="0"/>
                            </a:rPr>
                            <m:t>𝑅𝑒𝑐𝑎𝑙𝑙</m:t>
                          </m:r>
                        </m:num>
                        <m:den>
                          <m:r>
                            <a:rPr lang="it-IT">
                              <a:latin typeface="Cambria Math" panose="02040503050406030204" pitchFamily="18" charset="0"/>
                              <a:cs typeface="Times New Roman" panose="02020603050405020304" pitchFamily="18" charset="0"/>
                            </a:rPr>
                            <m:t>𝑃𝑟𝑒𝑐𝑖𝑠𝑖𝑜𝑛</m:t>
                          </m:r>
                          <m:r>
                            <a:rPr lang="it-IT">
                              <a:latin typeface="Cambria Math" panose="02040503050406030204" pitchFamily="18" charset="0"/>
                              <a:cs typeface="Times New Roman" panose="02020603050405020304" pitchFamily="18" charset="0"/>
                            </a:rPr>
                            <m:t>+</m:t>
                          </m:r>
                          <m:r>
                            <a:rPr lang="it-IT">
                              <a:latin typeface="Cambria Math" panose="02040503050406030204" pitchFamily="18" charset="0"/>
                              <a:cs typeface="Times New Roman" panose="02020603050405020304" pitchFamily="18" charset="0"/>
                            </a:rPr>
                            <m:t>𝑅𝑒𝑐𝑎𝑙𝑙</m:t>
                          </m:r>
                        </m:den>
                      </m:f>
                      <m:r>
                        <a:rPr lang="it-IT">
                          <a:latin typeface="Cambria Math" panose="02040503050406030204" pitchFamily="18" charset="0"/>
                          <a:cs typeface="Times New Roman" panose="02020603050405020304" pitchFamily="18" charset="0"/>
                        </a:rPr>
                        <m:t>= </m:t>
                      </m:r>
                      <m:f>
                        <m:fPr>
                          <m:ctrlPr>
                            <a:rPr lang="it-IT" i="1">
                              <a:latin typeface="Cambria Math" panose="02040503050406030204" pitchFamily="18" charset="0"/>
                              <a:cs typeface="Times New Roman" panose="02020603050405020304" pitchFamily="18" charset="0"/>
                            </a:rPr>
                          </m:ctrlPr>
                        </m:fPr>
                        <m:num>
                          <m:r>
                            <a:rPr lang="it-IT">
                              <a:latin typeface="Cambria Math" panose="02040503050406030204" pitchFamily="18" charset="0"/>
                              <a:cs typeface="Times New Roman" panose="02020603050405020304" pitchFamily="18" charset="0"/>
                            </a:rPr>
                            <m:t>2 ∙</m:t>
                          </m:r>
                          <m:r>
                            <a:rPr lang="it-IT">
                              <a:latin typeface="Cambria Math" panose="02040503050406030204" pitchFamily="18" charset="0"/>
                              <a:cs typeface="Times New Roman" panose="02020603050405020304" pitchFamily="18" charset="0"/>
                            </a:rPr>
                            <m:t>𝑇𝑃</m:t>
                          </m:r>
                        </m:num>
                        <m:den>
                          <m:r>
                            <a:rPr lang="it-IT">
                              <a:latin typeface="Cambria Math" panose="02040503050406030204" pitchFamily="18" charset="0"/>
                              <a:cs typeface="Times New Roman" panose="02020603050405020304" pitchFamily="18" charset="0"/>
                            </a:rPr>
                            <m:t>2∙</m:t>
                          </m:r>
                          <m:r>
                            <a:rPr lang="it-IT">
                              <a:latin typeface="Cambria Math" panose="02040503050406030204" pitchFamily="18" charset="0"/>
                              <a:cs typeface="Times New Roman" panose="02020603050405020304" pitchFamily="18" charset="0"/>
                            </a:rPr>
                            <m:t>𝑇𝑃</m:t>
                          </m:r>
                          <m:r>
                            <a:rPr lang="it-IT">
                              <a:latin typeface="Cambria Math" panose="02040503050406030204" pitchFamily="18" charset="0"/>
                              <a:cs typeface="Times New Roman" panose="02020603050405020304" pitchFamily="18" charset="0"/>
                            </a:rPr>
                            <m:t>+</m:t>
                          </m:r>
                          <m:r>
                            <a:rPr lang="it-IT">
                              <a:latin typeface="Cambria Math" panose="02040503050406030204" pitchFamily="18" charset="0"/>
                              <a:cs typeface="Times New Roman" panose="02020603050405020304" pitchFamily="18" charset="0"/>
                            </a:rPr>
                            <m:t>𝐹𝑃</m:t>
                          </m:r>
                          <m:r>
                            <a:rPr lang="it-IT">
                              <a:latin typeface="Cambria Math" panose="02040503050406030204" pitchFamily="18" charset="0"/>
                              <a:cs typeface="Times New Roman" panose="02020603050405020304" pitchFamily="18" charset="0"/>
                            </a:rPr>
                            <m:t>+</m:t>
                          </m:r>
                          <m:r>
                            <a:rPr lang="it-IT">
                              <a:latin typeface="Cambria Math" panose="02040503050406030204" pitchFamily="18" charset="0"/>
                              <a:cs typeface="Times New Roman" panose="02020603050405020304" pitchFamily="18" charset="0"/>
                            </a:rPr>
                            <m:t>𝐹𝑁</m:t>
                          </m:r>
                        </m:den>
                      </m:f>
                    </m:oMath>
                  </m:oMathPara>
                </a14:m>
                <a:endParaRPr lang="it-IT" dirty="0">
                  <a:latin typeface="Times New Roman" panose="02020603050405020304" pitchFamily="18" charset="0"/>
                  <a:cs typeface="Times New Roman" panose="02020603050405020304" pitchFamily="18" charset="0"/>
                </a:endParaRPr>
              </a:p>
              <a:p>
                <a:endParaRPr lang="it-IT" dirty="0">
                  <a:latin typeface="Times New Roman" panose="02020603050405020304" pitchFamily="18" charset="0"/>
                  <a:cs typeface="Times New Roman" panose="02020603050405020304" pitchFamily="18" charset="0"/>
                </a:endParaRPr>
              </a:p>
              <a:p>
                <a:pPr algn="just"/>
                <a:r>
                  <a:rPr lang="it-IT" dirty="0">
                    <a:latin typeface="Times New Roman" panose="02020603050405020304" pitchFamily="18" charset="0"/>
                    <a:cs typeface="Times New Roman" panose="02020603050405020304" pitchFamily="18" charset="0"/>
                  </a:rPr>
                  <a:t>Poiché si tratta di una metrica pensata per la classificazione binaria, l'F1-Score viene calcolato in modalità </a:t>
                </a:r>
                <a:r>
                  <a:rPr lang="it-IT" b="1" dirty="0" err="1">
                    <a:latin typeface="Times New Roman" panose="02020603050405020304" pitchFamily="18" charset="0"/>
                    <a:cs typeface="Times New Roman" panose="02020603050405020304" pitchFamily="18" charset="0"/>
                  </a:rPr>
                  <a:t>OneVsAll</a:t>
                </a:r>
                <a:r>
                  <a:rPr lang="it-IT" dirty="0">
                    <a:latin typeface="Times New Roman" panose="02020603050405020304" pitchFamily="18" charset="0"/>
                    <a:cs typeface="Times New Roman" panose="02020603050405020304" pitchFamily="18" charset="0"/>
                  </a:rPr>
                  <a:t> per ciascuna classe del </a:t>
                </a:r>
                <a:r>
                  <a:rPr lang="it-IT" dirty="0" err="1">
                    <a:latin typeface="Times New Roman" panose="02020603050405020304" pitchFamily="18" charset="0"/>
                    <a:cs typeface="Times New Roman" panose="02020603050405020304" pitchFamily="18" charset="0"/>
                  </a:rPr>
                  <a:t>dataset</a:t>
                </a:r>
                <a:r>
                  <a:rPr lang="it-IT" dirty="0">
                    <a:latin typeface="Times New Roman" panose="02020603050405020304" pitchFamily="18" charset="0"/>
                    <a:cs typeface="Times New Roman" panose="02020603050405020304" pitchFamily="18" charset="0"/>
                  </a:rPr>
                  <a:t>, dopodiché si determina la media pesata di questi 43 valori di F1 sulla distribuzione del training set (oppure su quella del test set, se stiamo valutando le performance su quest'ultimo).</a:t>
                </a:r>
              </a:p>
              <a:p>
                <a:pPr algn="just"/>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p:txBody>
          </p:sp>
        </mc:Choice>
        <mc:Fallback xmlns="">
          <p:sp>
            <p:nvSpPr>
              <p:cNvPr id="3" name="CasellaDiTesto 2">
                <a:extLst>
                  <a:ext uri="{FF2B5EF4-FFF2-40B4-BE49-F238E27FC236}">
                    <a16:creationId xmlns:a16="http://schemas.microsoft.com/office/drawing/2014/main" id="{F273295E-11C0-1A4C-8171-1AA2206B7DB7}"/>
                  </a:ext>
                </a:extLst>
              </p:cNvPr>
              <p:cNvSpPr txBox="1">
                <a:spLocks noRot="1" noChangeAspect="1" noMove="1" noResize="1" noEditPoints="1" noAdjustHandles="1" noChangeArrowheads="1" noChangeShapeType="1" noTextEdit="1"/>
              </p:cNvSpPr>
              <p:nvPr/>
            </p:nvSpPr>
            <p:spPr>
              <a:xfrm>
                <a:off x="387870" y="1582973"/>
                <a:ext cx="9228623" cy="4500848"/>
              </a:xfrm>
              <a:prstGeom prst="rect">
                <a:avLst/>
              </a:prstGeom>
              <a:blipFill>
                <a:blip r:embed="rId4"/>
                <a:stretch>
                  <a:fillRect l="-550" t="-563" r="-550"/>
                </a:stretch>
              </a:blipFill>
            </p:spPr>
            <p:txBody>
              <a:bodyPr/>
              <a:lstStyle/>
              <a:p>
                <a:r>
                  <a:rPr lang="it-IT">
                    <a:noFill/>
                  </a:rPr>
                  <a:t> </a:t>
                </a:r>
              </a:p>
            </p:txBody>
          </p:sp>
        </mc:Fallback>
      </mc:AlternateContent>
    </p:spTree>
    <p:extLst>
      <p:ext uri="{BB962C8B-B14F-4D97-AF65-F5344CB8AC3E}">
        <p14:creationId xmlns:p14="http://schemas.microsoft.com/office/powerpoint/2010/main" val="2345794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Modelli (1/3)   </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0307" y="150777"/>
            <a:ext cx="2215221" cy="554666"/>
          </a:xfrm>
          <a:prstGeom prst="rect">
            <a:avLst/>
          </a:prstGeom>
        </p:spPr>
      </p:pic>
      <p:sp>
        <p:nvSpPr>
          <p:cNvPr id="3" name="CasellaDiTesto 2">
            <a:extLst>
              <a:ext uri="{FF2B5EF4-FFF2-40B4-BE49-F238E27FC236}">
                <a16:creationId xmlns:a16="http://schemas.microsoft.com/office/drawing/2014/main" id="{F273295E-11C0-1A4C-8171-1AA2206B7DB7}"/>
              </a:ext>
            </a:extLst>
          </p:cNvPr>
          <p:cNvSpPr txBox="1"/>
          <p:nvPr/>
        </p:nvSpPr>
        <p:spPr>
          <a:xfrm>
            <a:off x="387870" y="1445871"/>
            <a:ext cx="9317658" cy="6740307"/>
          </a:xfrm>
          <a:prstGeom prst="rect">
            <a:avLst/>
          </a:prstGeom>
          <a:noFill/>
        </p:spPr>
        <p:txBody>
          <a:bodyPr wrap="square" rtlCol="0">
            <a:spAutoFit/>
          </a:bodyPr>
          <a:lstStyle/>
          <a:p>
            <a:pPr algn="just"/>
            <a:r>
              <a:rPr lang="it-IT" dirty="0">
                <a:latin typeface="Times New Roman" panose="02020603050405020304" pitchFamily="18" charset="0"/>
                <a:cs typeface="Times New Roman" panose="02020603050405020304" pitchFamily="18" charset="0"/>
              </a:rPr>
              <a:t>Segue l'elenco dei modelli testati (tra parentesi è indicato il numero identificativo del modello corrispondente):</a:t>
            </a:r>
          </a:p>
          <a:p>
            <a:pPr marL="285750" indent="-285750" algn="just">
              <a:buFont typeface="Arial" panose="020B0604020202020204" pitchFamily="34" charset="0"/>
              <a:buChar char="•"/>
            </a:pPr>
            <a:r>
              <a:rPr lang="it-IT" b="1" dirty="0" err="1">
                <a:latin typeface="Times New Roman" panose="02020603050405020304" pitchFamily="18" charset="0"/>
                <a:cs typeface="Times New Roman" panose="02020603050405020304" pitchFamily="18" charset="0"/>
              </a:rPr>
              <a:t>MyNetwork</a:t>
            </a:r>
            <a:r>
              <a:rPr lang="it-IT" b="1" dirty="0">
                <a:latin typeface="Times New Roman" panose="02020603050405020304" pitchFamily="18" charset="0"/>
                <a:cs typeface="Times New Roman" panose="02020603050405020304" pitchFamily="18" charset="0"/>
              </a:rPr>
              <a:t> (1)</a:t>
            </a:r>
            <a:r>
              <a:rPr lang="it-IT" b="1" dirty="0"/>
              <a:t>:</a:t>
            </a:r>
            <a:r>
              <a:rPr lang="it-IT" dirty="0"/>
              <a:t> </a:t>
            </a:r>
            <a:r>
              <a:rPr lang="it-IT" dirty="0">
                <a:latin typeface="Times New Roman" panose="02020603050405020304" pitchFamily="18" charset="0"/>
                <a:cs typeface="Times New Roman" panose="02020603050405020304" pitchFamily="18" charset="0"/>
              </a:rPr>
              <a:t>Si tratta di una semplice CNN costituita da tre livelli </a:t>
            </a:r>
            <a:r>
              <a:rPr lang="it-IT" dirty="0" err="1">
                <a:latin typeface="Times New Roman" panose="02020603050405020304" pitchFamily="18" charset="0"/>
                <a:cs typeface="Times New Roman" panose="02020603050405020304" pitchFamily="18" charset="0"/>
              </a:rPr>
              <a:t>convoluzionali</a:t>
            </a:r>
            <a:r>
              <a:rPr lang="it-IT" dirty="0">
                <a:latin typeface="Times New Roman" panose="02020603050405020304" pitchFamily="18" charset="0"/>
                <a:cs typeface="Times New Roman" panose="02020603050405020304" pitchFamily="18" charset="0"/>
              </a:rPr>
              <a:t>, di cui i primi due seguiti da Max </a:t>
            </a:r>
            <a:r>
              <a:rPr lang="it-IT" dirty="0" err="1">
                <a:latin typeface="Times New Roman" panose="02020603050405020304" pitchFamily="18" charset="0"/>
                <a:cs typeface="Times New Roman" panose="02020603050405020304" pitchFamily="18" charset="0"/>
              </a:rPr>
              <a:t>Pooling</a:t>
            </a:r>
            <a:r>
              <a:rPr lang="it-IT" dirty="0">
                <a:latin typeface="Times New Roman" panose="02020603050405020304" pitchFamily="18" charset="0"/>
                <a:cs typeface="Times New Roman" panose="02020603050405020304" pitchFamily="18" charset="0"/>
              </a:rPr>
              <a:t> 2x2 e </a:t>
            </a:r>
            <a:r>
              <a:rPr lang="it-IT" dirty="0" err="1">
                <a:latin typeface="Times New Roman" panose="02020603050405020304" pitchFamily="18" charset="0"/>
                <a:cs typeface="Times New Roman" panose="02020603050405020304" pitchFamily="18" charset="0"/>
              </a:rPr>
              <a:t>Dropout</a:t>
            </a:r>
            <a:r>
              <a:rPr lang="it-IT" dirty="0">
                <a:latin typeface="Times New Roman" panose="02020603050405020304" pitchFamily="18" charset="0"/>
                <a:cs typeface="Times New Roman" panose="02020603050405020304" pitchFamily="18" charset="0"/>
              </a:rPr>
              <a:t>. Si utilizzano 32 filtri per il primo livello di convoluzione, e 64 per gli ultimi due, con </a:t>
            </a:r>
            <a:r>
              <a:rPr lang="it-IT" dirty="0" err="1">
                <a:latin typeface="Times New Roman" panose="02020603050405020304" pitchFamily="18" charset="0"/>
                <a:cs typeface="Times New Roman" panose="02020603050405020304" pitchFamily="18" charset="0"/>
              </a:rPr>
              <a:t>kernel</a:t>
            </a:r>
            <a:r>
              <a:rPr lang="it-IT" dirty="0">
                <a:latin typeface="Times New Roman" panose="02020603050405020304" pitchFamily="18" charset="0"/>
                <a:cs typeface="Times New Roman" panose="02020603050405020304" pitchFamily="18" charset="0"/>
              </a:rPr>
              <a:t> 3x3. Come funzione di attivazione viene sempre utilizzata la </a:t>
            </a:r>
            <a:r>
              <a:rPr lang="it-IT" dirty="0" err="1">
                <a:latin typeface="Times New Roman" panose="02020603050405020304" pitchFamily="18" charset="0"/>
                <a:cs typeface="Times New Roman" panose="02020603050405020304" pitchFamily="18" charset="0"/>
              </a:rPr>
              <a:t>ReLU</a:t>
            </a:r>
            <a:r>
              <a:rPr lang="it-IT" dirty="0">
                <a:latin typeface="Times New Roman" panose="02020603050405020304" pitchFamily="18" charset="0"/>
                <a:cs typeface="Times New Roman" panose="02020603050405020304" pitchFamily="18" charset="0"/>
              </a:rPr>
              <a:t>. Seguono infine due </a:t>
            </a:r>
            <a:r>
              <a:rPr lang="it-IT" dirty="0" err="1">
                <a:latin typeface="Times New Roman" panose="02020603050405020304" pitchFamily="18" charset="0"/>
                <a:cs typeface="Times New Roman" panose="02020603050405020304" pitchFamily="18" charset="0"/>
              </a:rPr>
              <a:t>layer</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rispettivamente da 64 e poi 43 neuroni, il cui ultimo livello permette di ottenere le </a:t>
            </a:r>
            <a:r>
              <a:rPr lang="it-IT" dirty="0" err="1">
                <a:latin typeface="Times New Roman" panose="02020603050405020304" pitchFamily="18" charset="0"/>
                <a:cs typeface="Times New Roman" panose="02020603050405020304" pitchFamily="18" charset="0"/>
              </a:rPr>
              <a:t>distibuzioni</a:t>
            </a:r>
            <a:r>
              <a:rPr lang="it-IT" dirty="0">
                <a:latin typeface="Times New Roman" panose="02020603050405020304" pitchFamily="18" charset="0"/>
                <a:cs typeface="Times New Roman" panose="02020603050405020304" pitchFamily="18" charset="0"/>
              </a:rPr>
              <a:t> di probabilità delle classi utilizzando </a:t>
            </a:r>
            <a:r>
              <a:rPr lang="it-IT" dirty="0" err="1">
                <a:latin typeface="Times New Roman" panose="02020603050405020304" pitchFamily="18" charset="0"/>
                <a:cs typeface="Times New Roman" panose="02020603050405020304" pitchFamily="18" charset="0"/>
              </a:rPr>
              <a:t>SoftMax</a:t>
            </a:r>
            <a:r>
              <a:rPr lang="it-IT" dirty="0">
                <a:latin typeface="Times New Roman" panose="02020603050405020304" pitchFamily="18" charset="0"/>
                <a:cs typeface="Times New Roman" panose="02020603050405020304" pitchFamily="18" charset="0"/>
              </a:rPr>
              <a:t> come attivazione.</a:t>
            </a:r>
          </a:p>
          <a:p>
            <a:pPr marL="285750" indent="-285750" algn="just">
              <a:buFont typeface="Arial" panose="020B0604020202020204" pitchFamily="34" charset="0"/>
              <a:buChar char="•"/>
            </a:pPr>
            <a:r>
              <a:rPr lang="it-IT" b="1" dirty="0" err="1">
                <a:latin typeface="Times New Roman" panose="02020603050405020304" pitchFamily="18" charset="0"/>
                <a:cs typeface="Times New Roman" panose="02020603050405020304" pitchFamily="18" charset="0"/>
              </a:rPr>
              <a:t>MyNetworkDeeper</a:t>
            </a:r>
            <a:r>
              <a:rPr lang="it-IT" b="1" dirty="0">
                <a:latin typeface="Times New Roman" panose="02020603050405020304" pitchFamily="18" charset="0"/>
                <a:cs typeface="Times New Roman" panose="02020603050405020304" pitchFamily="18" charset="0"/>
              </a:rPr>
              <a:t> (2):</a:t>
            </a:r>
            <a:r>
              <a:rPr lang="it-IT" dirty="0"/>
              <a:t> </a:t>
            </a:r>
            <a:r>
              <a:rPr lang="it-IT" dirty="0">
                <a:latin typeface="Times New Roman" panose="02020603050405020304" pitchFamily="18" charset="0"/>
                <a:cs typeface="Times New Roman" panose="02020603050405020304" pitchFamily="18" charset="0"/>
              </a:rPr>
              <a:t>Si tratta di una CNN simile a </a:t>
            </a:r>
            <a:r>
              <a:rPr lang="it-IT" i="1" dirty="0" err="1">
                <a:latin typeface="Times New Roman" panose="02020603050405020304" pitchFamily="18" charset="0"/>
                <a:cs typeface="Times New Roman" panose="02020603050405020304" pitchFamily="18" charset="0"/>
              </a:rPr>
              <a:t>MyNetwork</a:t>
            </a:r>
            <a:r>
              <a:rPr lang="it-IT" dirty="0">
                <a:latin typeface="Times New Roman" panose="02020603050405020304" pitchFamily="18" charset="0"/>
                <a:cs typeface="Times New Roman" panose="02020603050405020304" pitchFamily="18" charset="0"/>
              </a:rPr>
              <a:t>, la cui capacità è stata aumentata per poter gestire meglio un </a:t>
            </a:r>
            <a:r>
              <a:rPr lang="it-IT" dirty="0" err="1">
                <a:latin typeface="Times New Roman" panose="02020603050405020304" pitchFamily="18" charset="0"/>
                <a:cs typeface="Times New Roman" panose="02020603050405020304" pitchFamily="18" charset="0"/>
              </a:rPr>
              <a:t>dataset</a:t>
            </a:r>
            <a:r>
              <a:rPr lang="it-IT" dirty="0">
                <a:latin typeface="Times New Roman" panose="02020603050405020304" pitchFamily="18" charset="0"/>
                <a:cs typeface="Times New Roman" panose="02020603050405020304" pitchFamily="18" charset="0"/>
              </a:rPr>
              <a:t> al quale viene applicato Data </a:t>
            </a:r>
            <a:r>
              <a:rPr lang="it-IT" dirty="0" err="1">
                <a:latin typeface="Times New Roman" panose="02020603050405020304" pitchFamily="18" charset="0"/>
                <a:cs typeface="Times New Roman" panose="02020603050405020304" pitchFamily="18" charset="0"/>
              </a:rPr>
              <a:t>Augmentation</a:t>
            </a:r>
            <a:r>
              <a:rPr lang="it-IT" dirty="0">
                <a:latin typeface="Times New Roman" panose="02020603050405020304" pitchFamily="18" charset="0"/>
                <a:cs typeface="Times New Roman" panose="02020603050405020304" pitchFamily="18" charset="0"/>
              </a:rPr>
              <a:t>. Risulta costituita da quattro livelli </a:t>
            </a:r>
            <a:r>
              <a:rPr lang="it-IT" dirty="0" err="1">
                <a:latin typeface="Times New Roman" panose="02020603050405020304" pitchFamily="18" charset="0"/>
                <a:cs typeface="Times New Roman" panose="02020603050405020304" pitchFamily="18" charset="0"/>
              </a:rPr>
              <a:t>convoluzionali</a:t>
            </a:r>
            <a:r>
              <a:rPr lang="it-IT" dirty="0">
                <a:latin typeface="Times New Roman" panose="02020603050405020304" pitchFamily="18" charset="0"/>
                <a:cs typeface="Times New Roman" panose="02020603050405020304" pitchFamily="18" charset="0"/>
              </a:rPr>
              <a:t>, di cui i primi tre seguiti da Max </a:t>
            </a:r>
            <a:r>
              <a:rPr lang="it-IT" dirty="0" err="1">
                <a:latin typeface="Times New Roman" panose="02020603050405020304" pitchFamily="18" charset="0"/>
                <a:cs typeface="Times New Roman" panose="02020603050405020304" pitchFamily="18" charset="0"/>
              </a:rPr>
              <a:t>Pooling</a:t>
            </a:r>
            <a:r>
              <a:rPr lang="it-IT" dirty="0">
                <a:latin typeface="Times New Roman" panose="02020603050405020304" pitchFamily="18" charset="0"/>
                <a:cs typeface="Times New Roman" panose="02020603050405020304" pitchFamily="18" charset="0"/>
              </a:rPr>
              <a:t> 2x2 e </a:t>
            </a:r>
            <a:r>
              <a:rPr lang="it-IT" dirty="0" err="1">
                <a:latin typeface="Times New Roman" panose="02020603050405020304" pitchFamily="18" charset="0"/>
                <a:cs typeface="Times New Roman" panose="02020603050405020304" pitchFamily="18" charset="0"/>
              </a:rPr>
              <a:t>Dropout</a:t>
            </a:r>
            <a:r>
              <a:rPr lang="it-IT" dirty="0">
                <a:latin typeface="Times New Roman" panose="02020603050405020304" pitchFamily="18" charset="0"/>
                <a:cs typeface="Times New Roman" panose="02020603050405020304" pitchFamily="18" charset="0"/>
              </a:rPr>
              <a:t>. Si utilizzano 32 filtri per il primo livello di convoluzione, 64 per il secondo e 128 per gli ultimi due, con </a:t>
            </a:r>
            <a:r>
              <a:rPr lang="it-IT" dirty="0" err="1">
                <a:latin typeface="Times New Roman" panose="02020603050405020304" pitchFamily="18" charset="0"/>
                <a:cs typeface="Times New Roman" panose="02020603050405020304" pitchFamily="18" charset="0"/>
              </a:rPr>
              <a:t>kernel</a:t>
            </a:r>
            <a:r>
              <a:rPr lang="it-IT" dirty="0">
                <a:latin typeface="Times New Roman" panose="02020603050405020304" pitchFamily="18" charset="0"/>
                <a:cs typeface="Times New Roman" panose="02020603050405020304" pitchFamily="18" charset="0"/>
              </a:rPr>
              <a:t> 3x3. Come funzione di attivazione viene sempre utilizzata la </a:t>
            </a:r>
            <a:r>
              <a:rPr lang="it-IT" dirty="0" err="1">
                <a:latin typeface="Times New Roman" panose="02020603050405020304" pitchFamily="18" charset="0"/>
                <a:cs typeface="Times New Roman" panose="02020603050405020304" pitchFamily="18" charset="0"/>
              </a:rPr>
              <a:t>ReLU</a:t>
            </a:r>
            <a:r>
              <a:rPr lang="it-IT" dirty="0">
                <a:latin typeface="Times New Roman" panose="02020603050405020304" pitchFamily="18" charset="0"/>
                <a:cs typeface="Times New Roman" panose="02020603050405020304" pitchFamily="18" charset="0"/>
              </a:rPr>
              <a:t>. Seguono infine due </a:t>
            </a:r>
            <a:r>
              <a:rPr lang="it-IT" dirty="0" err="1">
                <a:latin typeface="Times New Roman" panose="02020603050405020304" pitchFamily="18" charset="0"/>
                <a:cs typeface="Times New Roman" panose="02020603050405020304" pitchFamily="18" charset="0"/>
              </a:rPr>
              <a:t>layer</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rispettivamente da 128 e poi 43 neuroni, il cui ultimo livello permette di ottenere le </a:t>
            </a:r>
            <a:r>
              <a:rPr lang="it-IT" dirty="0" err="1">
                <a:latin typeface="Times New Roman" panose="02020603050405020304" pitchFamily="18" charset="0"/>
                <a:cs typeface="Times New Roman" panose="02020603050405020304" pitchFamily="18" charset="0"/>
              </a:rPr>
              <a:t>distibuzioni</a:t>
            </a:r>
            <a:r>
              <a:rPr lang="it-IT" dirty="0">
                <a:latin typeface="Times New Roman" panose="02020603050405020304" pitchFamily="18" charset="0"/>
                <a:cs typeface="Times New Roman" panose="02020603050405020304" pitchFamily="18" charset="0"/>
              </a:rPr>
              <a:t> di probabilità delle classi utilizzando </a:t>
            </a:r>
            <a:r>
              <a:rPr lang="it-IT" dirty="0" err="1">
                <a:latin typeface="Times New Roman" panose="02020603050405020304" pitchFamily="18" charset="0"/>
                <a:cs typeface="Times New Roman" panose="02020603050405020304" pitchFamily="18" charset="0"/>
              </a:rPr>
              <a:t>SoftMax</a:t>
            </a:r>
            <a:r>
              <a:rPr lang="it-IT" dirty="0">
                <a:latin typeface="Times New Roman" panose="02020603050405020304" pitchFamily="18" charset="0"/>
                <a:cs typeface="Times New Roman" panose="02020603050405020304" pitchFamily="18" charset="0"/>
              </a:rPr>
              <a:t> come attivazione. Rispetto a </a:t>
            </a:r>
            <a:r>
              <a:rPr lang="it-IT" i="1" dirty="0" err="1">
                <a:latin typeface="Times New Roman" panose="02020603050405020304" pitchFamily="18" charset="0"/>
                <a:cs typeface="Times New Roman" panose="02020603050405020304" pitchFamily="18" charset="0"/>
              </a:rPr>
              <a:t>MyNetwork</a:t>
            </a:r>
            <a:r>
              <a:rPr lang="it-IT" dirty="0">
                <a:latin typeface="Times New Roman" panose="02020603050405020304" pitchFamily="18" charset="0"/>
                <a:cs typeface="Times New Roman" panose="02020603050405020304" pitchFamily="18" charset="0"/>
              </a:rPr>
              <a:t>, questo modello applica </a:t>
            </a:r>
            <a:r>
              <a:rPr lang="it-IT" dirty="0" err="1">
                <a:latin typeface="Times New Roman" panose="02020603050405020304" pitchFamily="18" charset="0"/>
                <a:cs typeface="Times New Roman" panose="02020603050405020304" pitchFamily="18" charset="0"/>
              </a:rPr>
              <a:t>padding</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same</a:t>
            </a:r>
            <a:r>
              <a:rPr lang="it-IT" dirty="0">
                <a:latin typeface="Times New Roman" panose="02020603050405020304" pitchFamily="18" charset="0"/>
                <a:cs typeface="Times New Roman" panose="02020603050405020304" pitchFamily="18" charset="0"/>
              </a:rPr>
              <a:t>") ai primi 3 livelli </a:t>
            </a:r>
            <a:r>
              <a:rPr lang="it-IT" dirty="0" err="1">
                <a:latin typeface="Times New Roman" panose="02020603050405020304" pitchFamily="18" charset="0"/>
                <a:cs typeface="Times New Roman" panose="02020603050405020304" pitchFamily="18" charset="0"/>
              </a:rPr>
              <a:t>convoluzionali</a:t>
            </a:r>
            <a:r>
              <a:rPr lang="it-IT" dirty="0">
                <a:latin typeface="Times New Roman" panose="02020603050405020304" pitchFamily="18" charset="0"/>
                <a:cs typeface="Times New Roman" panose="02020603050405020304" pitchFamily="18" charset="0"/>
              </a:rPr>
              <a:t>, in maniera tale da restringere la dimensione delle </a:t>
            </a:r>
            <a:r>
              <a:rPr lang="it-IT" dirty="0" err="1">
                <a:latin typeface="Times New Roman" panose="02020603050405020304" pitchFamily="18" charset="0"/>
                <a:cs typeface="Times New Roman" panose="02020603050405020304" pitchFamily="18" charset="0"/>
              </a:rPr>
              <a:t>feature</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map</a:t>
            </a:r>
            <a:r>
              <a:rPr lang="it-IT" dirty="0">
                <a:latin typeface="Times New Roman" panose="02020603050405020304" pitchFamily="18" charset="0"/>
                <a:cs typeface="Times New Roman" panose="02020603050405020304" pitchFamily="18" charset="0"/>
              </a:rPr>
              <a:t> solo attraverso il </a:t>
            </a:r>
            <a:r>
              <a:rPr lang="it-IT" dirty="0" err="1">
                <a:latin typeface="Times New Roman" panose="02020603050405020304" pitchFamily="18" charset="0"/>
                <a:cs typeface="Times New Roman" panose="02020603050405020304" pitchFamily="18" charset="0"/>
              </a:rPr>
              <a:t>padding</a:t>
            </a:r>
            <a:r>
              <a:rPr lang="it-IT" dirty="0">
                <a:latin typeface="Times New Roman" panose="02020603050405020304" pitchFamily="18" charset="0"/>
                <a:cs typeface="Times New Roman" panose="02020603050405020304" pitchFamily="18" charset="0"/>
              </a:rPr>
              <a:t>.</a:t>
            </a:r>
          </a:p>
          <a:p>
            <a:pPr algn="just"/>
            <a:br>
              <a:rPr lang="it-IT" dirty="0"/>
            </a:br>
            <a:endParaRPr lang="it-IT" dirty="0"/>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pPr algn="just"/>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4912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Modelli (2/3)  </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193300"/>
            <a:ext cx="2215221" cy="554666"/>
          </a:xfrm>
          <a:prstGeom prst="rect">
            <a:avLst/>
          </a:prstGeom>
        </p:spPr>
      </p:pic>
      <p:sp>
        <p:nvSpPr>
          <p:cNvPr id="4" name="CasellaDiTesto 3">
            <a:extLst>
              <a:ext uri="{FF2B5EF4-FFF2-40B4-BE49-F238E27FC236}">
                <a16:creationId xmlns:a16="http://schemas.microsoft.com/office/drawing/2014/main" id="{4674EB2E-C951-4F47-8547-F163948F9C88}"/>
              </a:ext>
            </a:extLst>
          </p:cNvPr>
          <p:cNvSpPr txBox="1"/>
          <p:nvPr/>
        </p:nvSpPr>
        <p:spPr>
          <a:xfrm>
            <a:off x="612525" y="1509929"/>
            <a:ext cx="8732963" cy="5632311"/>
          </a:xfrm>
          <a:prstGeom prst="rect">
            <a:avLst/>
          </a:prstGeom>
          <a:noFill/>
        </p:spPr>
        <p:txBody>
          <a:bodyPr wrap="square" rtlCol="0">
            <a:spAutoFit/>
          </a:bodyPr>
          <a:lstStyle/>
          <a:p>
            <a:pPr marL="285750" indent="-285750" algn="just">
              <a:buFont typeface="Arial" panose="020B0604020202020204" pitchFamily="34" charset="0"/>
              <a:buChar char="•"/>
            </a:pPr>
            <a:r>
              <a:rPr lang="it-IT" b="1" dirty="0">
                <a:latin typeface="Times New Roman" panose="02020603050405020304" pitchFamily="18" charset="0"/>
                <a:cs typeface="Times New Roman" panose="02020603050405020304" pitchFamily="18" charset="0"/>
              </a:rPr>
              <a:t>VGG16_net (100):</a:t>
            </a:r>
            <a:r>
              <a:rPr lang="it-IT" dirty="0"/>
              <a:t> </a:t>
            </a:r>
            <a:r>
              <a:rPr lang="it-IT" dirty="0">
                <a:latin typeface="Times New Roman" panose="02020603050405020304" pitchFamily="18" charset="0"/>
                <a:cs typeface="Times New Roman" panose="02020603050405020304" pitchFamily="18" charset="0"/>
              </a:rPr>
              <a:t>Si tratta di una VGG16 </a:t>
            </a:r>
            <a:r>
              <a:rPr lang="it-IT" dirty="0" err="1">
                <a:latin typeface="Times New Roman" panose="02020603050405020304" pitchFamily="18" charset="0"/>
                <a:cs typeface="Times New Roman" panose="02020603050405020304" pitchFamily="18" charset="0"/>
              </a:rPr>
              <a:t>pre</a:t>
            </a:r>
            <a:r>
              <a:rPr lang="it-IT" dirty="0">
                <a:latin typeface="Times New Roman" panose="02020603050405020304" pitchFamily="18" charset="0"/>
                <a:cs typeface="Times New Roman" panose="02020603050405020304" pitchFamily="18" charset="0"/>
              </a:rPr>
              <a:t>-addestrata per tutti i livelli </a:t>
            </a:r>
            <a:r>
              <a:rPr lang="it-IT" dirty="0" err="1">
                <a:latin typeface="Times New Roman" panose="02020603050405020304" pitchFamily="18" charset="0"/>
                <a:cs typeface="Times New Roman" panose="02020603050405020304" pitchFamily="18" charset="0"/>
              </a:rPr>
              <a:t>convoluzionali</a:t>
            </a:r>
            <a:r>
              <a:rPr lang="it-IT" dirty="0">
                <a:latin typeface="Times New Roman" panose="02020603050405020304" pitchFamily="18" charset="0"/>
                <a:cs typeface="Times New Roman" panose="02020603050405020304" pitchFamily="18" charset="0"/>
              </a:rPr>
              <a:t> su </a:t>
            </a:r>
            <a:r>
              <a:rPr lang="it-IT" dirty="0" err="1">
                <a:latin typeface="Times New Roman" panose="02020603050405020304" pitchFamily="18" charset="0"/>
                <a:cs typeface="Times New Roman" panose="02020603050405020304" pitchFamily="18" charset="0"/>
              </a:rPr>
              <a:t>ImageNet</a:t>
            </a:r>
            <a:r>
              <a:rPr lang="it-IT" dirty="0">
                <a:latin typeface="Times New Roman" panose="02020603050405020304" pitchFamily="18" charset="0"/>
                <a:cs typeface="Times New Roman" panose="02020603050405020304" pitchFamily="18" charset="0"/>
              </a:rPr>
              <a:t>. Si utilizza questo modello per effettuare Transfer Learning, eliminando i </a:t>
            </a:r>
            <a:r>
              <a:rPr lang="it-IT" dirty="0" err="1">
                <a:latin typeface="Times New Roman" panose="02020603050405020304" pitchFamily="18" charset="0"/>
                <a:cs typeface="Times New Roman" panose="02020603050405020304" pitchFamily="18" charset="0"/>
              </a:rPr>
              <a:t>layer</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della VGG16 e aggiungendo:</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un livello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da 1000 neuroni con </a:t>
            </a:r>
            <a:r>
              <a:rPr lang="it-IT" dirty="0" err="1">
                <a:latin typeface="Times New Roman" panose="02020603050405020304" pitchFamily="18" charset="0"/>
                <a:cs typeface="Times New Roman" panose="02020603050405020304" pitchFamily="18" charset="0"/>
              </a:rPr>
              <a:t>ReLU</a:t>
            </a:r>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un livello di Batch-</a:t>
            </a:r>
            <a:r>
              <a:rPr lang="it-IT" dirty="0" err="1">
                <a:latin typeface="Times New Roman" panose="02020603050405020304" pitchFamily="18" charset="0"/>
                <a:cs typeface="Times New Roman" panose="02020603050405020304" pitchFamily="18" charset="0"/>
              </a:rPr>
              <a:t>Normalization</a:t>
            </a:r>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un livello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da 256 neuroni con </a:t>
            </a:r>
            <a:r>
              <a:rPr lang="it-IT" dirty="0" err="1">
                <a:latin typeface="Times New Roman" panose="02020603050405020304" pitchFamily="18" charset="0"/>
                <a:cs typeface="Times New Roman" panose="02020603050405020304" pitchFamily="18" charset="0"/>
              </a:rPr>
              <a:t>ReLU</a:t>
            </a:r>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un livello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(di output) da 43 neuroni con </a:t>
            </a:r>
            <a:r>
              <a:rPr lang="it-IT" dirty="0" err="1">
                <a:latin typeface="Times New Roman" panose="02020603050405020304" pitchFamily="18" charset="0"/>
                <a:cs typeface="Times New Roman" panose="02020603050405020304" pitchFamily="18" charset="0"/>
              </a:rPr>
              <a:t>SoftMax</a:t>
            </a:r>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it-IT" b="1" dirty="0">
                <a:latin typeface="Times New Roman" panose="02020603050405020304" pitchFamily="18" charset="0"/>
                <a:cs typeface="Times New Roman" panose="02020603050405020304" pitchFamily="18" charset="0"/>
              </a:rPr>
              <a:t>VGG19_net (200):</a:t>
            </a:r>
            <a:r>
              <a:rPr lang="it-IT" dirty="0"/>
              <a:t> </a:t>
            </a:r>
            <a:r>
              <a:rPr lang="it-IT" dirty="0">
                <a:latin typeface="Times New Roman" panose="02020603050405020304" pitchFamily="18" charset="0"/>
                <a:cs typeface="Times New Roman" panose="02020603050405020304" pitchFamily="18" charset="0"/>
              </a:rPr>
              <a:t>Si tratta di una VGG19 </a:t>
            </a:r>
            <a:r>
              <a:rPr lang="it-IT" dirty="0" err="1">
                <a:latin typeface="Times New Roman" panose="02020603050405020304" pitchFamily="18" charset="0"/>
                <a:cs typeface="Times New Roman" panose="02020603050405020304" pitchFamily="18" charset="0"/>
              </a:rPr>
              <a:t>pre</a:t>
            </a:r>
            <a:r>
              <a:rPr lang="it-IT" dirty="0">
                <a:latin typeface="Times New Roman" panose="02020603050405020304" pitchFamily="18" charset="0"/>
                <a:cs typeface="Times New Roman" panose="02020603050405020304" pitchFamily="18" charset="0"/>
              </a:rPr>
              <a:t>-addestrata per tutti i livelli </a:t>
            </a:r>
            <a:r>
              <a:rPr lang="it-IT" dirty="0" err="1">
                <a:latin typeface="Times New Roman" panose="02020603050405020304" pitchFamily="18" charset="0"/>
                <a:cs typeface="Times New Roman" panose="02020603050405020304" pitchFamily="18" charset="0"/>
              </a:rPr>
              <a:t>convoluzionali</a:t>
            </a:r>
            <a:r>
              <a:rPr lang="it-IT" dirty="0">
                <a:latin typeface="Times New Roman" panose="02020603050405020304" pitchFamily="18" charset="0"/>
                <a:cs typeface="Times New Roman" panose="02020603050405020304" pitchFamily="18" charset="0"/>
              </a:rPr>
              <a:t> su </a:t>
            </a:r>
            <a:r>
              <a:rPr lang="it-IT" dirty="0" err="1">
                <a:latin typeface="Times New Roman" panose="02020603050405020304" pitchFamily="18" charset="0"/>
                <a:cs typeface="Times New Roman" panose="02020603050405020304" pitchFamily="18" charset="0"/>
              </a:rPr>
              <a:t>ImageNet</a:t>
            </a:r>
            <a:r>
              <a:rPr lang="it-IT" dirty="0">
                <a:latin typeface="Times New Roman" panose="02020603050405020304" pitchFamily="18" charset="0"/>
                <a:cs typeface="Times New Roman" panose="02020603050405020304" pitchFamily="18" charset="0"/>
              </a:rPr>
              <a:t>. Si utilizza questo modello per effettuare Transfer Learning, eliminando i </a:t>
            </a:r>
            <a:r>
              <a:rPr lang="it-IT" dirty="0" err="1">
                <a:latin typeface="Times New Roman" panose="02020603050405020304" pitchFamily="18" charset="0"/>
                <a:cs typeface="Times New Roman" panose="02020603050405020304" pitchFamily="18" charset="0"/>
              </a:rPr>
              <a:t>layer</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della VGG19 e aggiungendo:</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un livello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da 1000 neuroni con </a:t>
            </a:r>
            <a:r>
              <a:rPr lang="it-IT" dirty="0" err="1">
                <a:latin typeface="Times New Roman" panose="02020603050405020304" pitchFamily="18" charset="0"/>
                <a:cs typeface="Times New Roman" panose="02020603050405020304" pitchFamily="18" charset="0"/>
              </a:rPr>
              <a:t>ReLU</a:t>
            </a:r>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un livello di Batch-</a:t>
            </a:r>
            <a:r>
              <a:rPr lang="it-IT" dirty="0" err="1">
                <a:latin typeface="Times New Roman" panose="02020603050405020304" pitchFamily="18" charset="0"/>
                <a:cs typeface="Times New Roman" panose="02020603050405020304" pitchFamily="18" charset="0"/>
              </a:rPr>
              <a:t>Normalization</a:t>
            </a:r>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un livello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da 256 neuroni con </a:t>
            </a:r>
            <a:r>
              <a:rPr lang="it-IT" dirty="0" err="1">
                <a:latin typeface="Times New Roman" panose="02020603050405020304" pitchFamily="18" charset="0"/>
                <a:cs typeface="Times New Roman" panose="02020603050405020304" pitchFamily="18" charset="0"/>
              </a:rPr>
              <a:t>ReLU</a:t>
            </a:r>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un livello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(di output) da 43 neuroni con </a:t>
            </a:r>
            <a:r>
              <a:rPr lang="it-IT" dirty="0" err="1">
                <a:latin typeface="Times New Roman" panose="02020603050405020304" pitchFamily="18" charset="0"/>
                <a:cs typeface="Times New Roman" panose="02020603050405020304" pitchFamily="18" charset="0"/>
              </a:rPr>
              <a:t>SoftMax</a:t>
            </a:r>
            <a:endParaRPr lang="it-IT" dirty="0">
              <a:latin typeface="Times New Roman" panose="02020603050405020304" pitchFamily="18" charset="0"/>
              <a:cs typeface="Times New Roman" panose="02020603050405020304" pitchFamily="18" charset="0"/>
            </a:endParaRPr>
          </a:p>
          <a:p>
            <a:pPr algn="just"/>
            <a:endParaRPr lang="it-IT" dirty="0">
              <a:latin typeface="Times New Roman" panose="02020603050405020304" pitchFamily="18" charset="0"/>
              <a:cs typeface="Times New Roman" panose="02020603050405020304" pitchFamily="18" charset="0"/>
            </a:endParaRPr>
          </a:p>
          <a:p>
            <a:pPr algn="just"/>
            <a:r>
              <a:rPr lang="it-IT" b="1" u="sng" dirty="0">
                <a:latin typeface="Times New Roman" panose="02020603050405020304" pitchFamily="18" charset="0"/>
                <a:cs typeface="Times New Roman" panose="02020603050405020304" pitchFamily="18" charset="0"/>
              </a:rPr>
              <a:t>Fine </a:t>
            </a:r>
            <a:r>
              <a:rPr lang="it-IT" b="1" u="sng" dirty="0" err="1">
                <a:latin typeface="Times New Roman" panose="02020603050405020304" pitchFamily="18" charset="0"/>
                <a:cs typeface="Times New Roman" panose="02020603050405020304" pitchFamily="18" charset="0"/>
              </a:rPr>
              <a:t>Tuning</a:t>
            </a:r>
            <a:r>
              <a:rPr lang="it-IT" b="1" u="sng" dirty="0">
                <a:latin typeface="Times New Roman" panose="02020603050405020304" pitchFamily="18" charset="0"/>
                <a:cs typeface="Times New Roman" panose="02020603050405020304" pitchFamily="18" charset="0"/>
              </a:rPr>
              <a:t> sull’intera rete o su alcuni </a:t>
            </a:r>
            <a:r>
              <a:rPr lang="it-IT" b="1" u="sng" dirty="0" err="1">
                <a:latin typeface="Times New Roman" panose="02020603050405020304" pitchFamily="18" charset="0"/>
                <a:cs typeface="Times New Roman" panose="02020603050405020304" pitchFamily="18" charset="0"/>
              </a:rPr>
              <a:t>layer</a:t>
            </a:r>
            <a:r>
              <a:rPr lang="it-IT" b="1" u="sng" dirty="0">
                <a:latin typeface="Times New Roman" panose="02020603050405020304" pitchFamily="18" charset="0"/>
                <a:cs typeface="Times New Roman" panose="02020603050405020304" pitchFamily="18" charset="0"/>
              </a:rPr>
              <a:t> precedenti richiedeva un eccessivo costo computazionale per la nostra potenza di calcolo</a:t>
            </a:r>
            <a:r>
              <a:rPr lang="it-IT" dirty="0">
                <a:latin typeface="Times New Roman" panose="02020603050405020304" pitchFamily="18" charset="0"/>
                <a:cs typeface="Times New Roman" panose="02020603050405020304" pitchFamily="18" charset="0"/>
              </a:rPr>
              <a:t>.</a:t>
            </a:r>
          </a:p>
          <a:p>
            <a:pPr algn="just"/>
            <a:endParaRPr lang="it-IT" dirty="0">
              <a:latin typeface="Times New Roman" panose="02020603050405020304" pitchFamily="18" charset="0"/>
              <a:cs typeface="Times New Roman" panose="02020603050405020304" pitchFamily="18" charset="0"/>
            </a:endParaRPr>
          </a:p>
          <a:p>
            <a:pPr algn="just"/>
            <a:endParaRPr lang="it-IT" dirty="0">
              <a:latin typeface="Times New Roman" panose="02020603050405020304" pitchFamily="18" charset="0"/>
              <a:cs typeface="Times New Roman" panose="02020603050405020304" pitchFamily="18" charset="0"/>
            </a:endParaRPr>
          </a:p>
          <a:p>
            <a:pPr algn="just"/>
            <a:endParaRPr lang="it-IT" dirty="0"/>
          </a:p>
        </p:txBody>
      </p:sp>
    </p:spTree>
    <p:extLst>
      <p:ext uri="{BB962C8B-B14F-4D97-AF65-F5344CB8AC3E}">
        <p14:creationId xmlns:p14="http://schemas.microsoft.com/office/powerpoint/2010/main" val="3931981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Modelli (3/3)  </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206588"/>
            <a:ext cx="2215221" cy="554666"/>
          </a:xfrm>
          <a:prstGeom prst="rect">
            <a:avLst/>
          </a:prstGeom>
        </p:spPr>
      </p:pic>
      <p:sp>
        <p:nvSpPr>
          <p:cNvPr id="4" name="CasellaDiTesto 3">
            <a:extLst>
              <a:ext uri="{FF2B5EF4-FFF2-40B4-BE49-F238E27FC236}">
                <a16:creationId xmlns:a16="http://schemas.microsoft.com/office/drawing/2014/main" id="{4674EB2E-C951-4F47-8547-F163948F9C88}"/>
              </a:ext>
            </a:extLst>
          </p:cNvPr>
          <p:cNvSpPr txBox="1"/>
          <p:nvPr/>
        </p:nvSpPr>
        <p:spPr>
          <a:xfrm>
            <a:off x="612525" y="1509929"/>
            <a:ext cx="8732963" cy="4801314"/>
          </a:xfrm>
          <a:prstGeom prst="rect">
            <a:avLst/>
          </a:prstGeom>
          <a:noFill/>
        </p:spPr>
        <p:txBody>
          <a:bodyPr wrap="square" rtlCol="0">
            <a:spAutoFit/>
          </a:bodyPr>
          <a:lstStyle/>
          <a:p>
            <a:pPr marL="285750" indent="-285750" algn="just">
              <a:buFont typeface="Arial" panose="020B0604020202020204" pitchFamily="34" charset="0"/>
              <a:buChar char="•"/>
            </a:pPr>
            <a:r>
              <a:rPr lang="it-IT" b="1" dirty="0">
                <a:latin typeface="Times New Roman" panose="02020603050405020304" pitchFamily="18" charset="0"/>
                <a:cs typeface="Times New Roman" panose="02020603050405020304" pitchFamily="18" charset="0"/>
              </a:rPr>
              <a:t>ResNet50V2_net (300):</a:t>
            </a:r>
            <a:r>
              <a:rPr lang="it-IT" dirty="0"/>
              <a:t> </a:t>
            </a:r>
            <a:r>
              <a:rPr lang="it-IT" dirty="0">
                <a:latin typeface="Times New Roman" panose="02020603050405020304" pitchFamily="18" charset="0"/>
                <a:cs typeface="Times New Roman" panose="02020603050405020304" pitchFamily="18" charset="0"/>
              </a:rPr>
              <a:t>Si tratta di una ResNet50V2 </a:t>
            </a:r>
            <a:r>
              <a:rPr lang="it-IT" dirty="0" err="1">
                <a:latin typeface="Times New Roman" panose="02020603050405020304" pitchFamily="18" charset="0"/>
                <a:cs typeface="Times New Roman" panose="02020603050405020304" pitchFamily="18" charset="0"/>
              </a:rPr>
              <a:t>pre</a:t>
            </a:r>
            <a:r>
              <a:rPr lang="it-IT" dirty="0">
                <a:latin typeface="Times New Roman" panose="02020603050405020304" pitchFamily="18" charset="0"/>
                <a:cs typeface="Times New Roman" panose="02020603050405020304" pitchFamily="18" charset="0"/>
              </a:rPr>
              <a:t>-addestrata per tutti i livelli </a:t>
            </a:r>
            <a:r>
              <a:rPr lang="it-IT" dirty="0" err="1">
                <a:latin typeface="Times New Roman" panose="02020603050405020304" pitchFamily="18" charset="0"/>
                <a:cs typeface="Times New Roman" panose="02020603050405020304" pitchFamily="18" charset="0"/>
              </a:rPr>
              <a:t>convoluzionali</a:t>
            </a:r>
            <a:r>
              <a:rPr lang="it-IT" dirty="0">
                <a:latin typeface="Times New Roman" panose="02020603050405020304" pitchFamily="18" charset="0"/>
                <a:cs typeface="Times New Roman" panose="02020603050405020304" pitchFamily="18" charset="0"/>
              </a:rPr>
              <a:t> su </a:t>
            </a:r>
            <a:r>
              <a:rPr lang="it-IT" dirty="0" err="1">
                <a:latin typeface="Times New Roman" panose="02020603050405020304" pitchFamily="18" charset="0"/>
                <a:cs typeface="Times New Roman" panose="02020603050405020304" pitchFamily="18" charset="0"/>
              </a:rPr>
              <a:t>ImageNet</a:t>
            </a:r>
            <a:r>
              <a:rPr lang="it-IT" dirty="0">
                <a:latin typeface="Times New Roman" panose="02020603050405020304" pitchFamily="18" charset="0"/>
                <a:cs typeface="Times New Roman" panose="02020603050405020304" pitchFamily="18" charset="0"/>
              </a:rPr>
              <a:t>. Si utilizza questo modello per effettuare Transfer Learning, eliminando i </a:t>
            </a:r>
            <a:r>
              <a:rPr lang="it-IT" dirty="0" err="1">
                <a:latin typeface="Times New Roman" panose="02020603050405020304" pitchFamily="18" charset="0"/>
                <a:cs typeface="Times New Roman" panose="02020603050405020304" pitchFamily="18" charset="0"/>
              </a:rPr>
              <a:t>layer</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della </a:t>
            </a:r>
            <a:r>
              <a:rPr lang="it-IT" dirty="0" err="1">
                <a:latin typeface="Times New Roman" panose="02020603050405020304" pitchFamily="18" charset="0"/>
                <a:cs typeface="Times New Roman" panose="02020603050405020304" pitchFamily="18" charset="0"/>
              </a:rPr>
              <a:t>ResNet</a:t>
            </a:r>
            <a:r>
              <a:rPr lang="it-IT" dirty="0">
                <a:latin typeface="Times New Roman" panose="02020603050405020304" pitchFamily="18" charset="0"/>
                <a:cs typeface="Times New Roman" panose="02020603050405020304" pitchFamily="18" charset="0"/>
              </a:rPr>
              <a:t> e aggiungendo:</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un livello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da 1000 neuroni con </a:t>
            </a:r>
            <a:r>
              <a:rPr lang="it-IT" dirty="0" err="1">
                <a:latin typeface="Times New Roman" panose="02020603050405020304" pitchFamily="18" charset="0"/>
                <a:cs typeface="Times New Roman" panose="02020603050405020304" pitchFamily="18" charset="0"/>
              </a:rPr>
              <a:t>ReLU</a:t>
            </a:r>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un livello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(di output) da 43 neuroni con </a:t>
            </a:r>
            <a:r>
              <a:rPr lang="it-IT" dirty="0" err="1">
                <a:latin typeface="Times New Roman" panose="02020603050405020304" pitchFamily="18" charset="0"/>
                <a:cs typeface="Times New Roman" panose="02020603050405020304" pitchFamily="18" charset="0"/>
              </a:rPr>
              <a:t>SoftMax</a:t>
            </a:r>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it-IT" b="1" dirty="0">
                <a:latin typeface="Times New Roman" panose="02020603050405020304" pitchFamily="18" charset="0"/>
                <a:cs typeface="Times New Roman" panose="02020603050405020304" pitchFamily="18" charset="0"/>
              </a:rPr>
              <a:t>InceptionV3_net (400):</a:t>
            </a:r>
            <a:r>
              <a:rPr lang="it-IT" dirty="0"/>
              <a:t> </a:t>
            </a:r>
            <a:r>
              <a:rPr lang="it-IT" dirty="0">
                <a:latin typeface="Times New Roman" panose="02020603050405020304" pitchFamily="18" charset="0"/>
                <a:cs typeface="Times New Roman" panose="02020603050405020304" pitchFamily="18" charset="0"/>
              </a:rPr>
              <a:t>Si tratta di una InceptionV3 </a:t>
            </a:r>
            <a:r>
              <a:rPr lang="it-IT" dirty="0" err="1">
                <a:latin typeface="Times New Roman" panose="02020603050405020304" pitchFamily="18" charset="0"/>
                <a:cs typeface="Times New Roman" panose="02020603050405020304" pitchFamily="18" charset="0"/>
              </a:rPr>
              <a:t>pre</a:t>
            </a:r>
            <a:r>
              <a:rPr lang="it-IT" dirty="0">
                <a:latin typeface="Times New Roman" panose="02020603050405020304" pitchFamily="18" charset="0"/>
                <a:cs typeface="Times New Roman" panose="02020603050405020304" pitchFamily="18" charset="0"/>
              </a:rPr>
              <a:t>-addestrata per tutti i livelli </a:t>
            </a:r>
            <a:r>
              <a:rPr lang="it-IT" dirty="0" err="1">
                <a:latin typeface="Times New Roman" panose="02020603050405020304" pitchFamily="18" charset="0"/>
                <a:cs typeface="Times New Roman" panose="02020603050405020304" pitchFamily="18" charset="0"/>
              </a:rPr>
              <a:t>convoluzionali</a:t>
            </a:r>
            <a:r>
              <a:rPr lang="it-IT" dirty="0">
                <a:latin typeface="Times New Roman" panose="02020603050405020304" pitchFamily="18" charset="0"/>
                <a:cs typeface="Times New Roman" panose="02020603050405020304" pitchFamily="18" charset="0"/>
              </a:rPr>
              <a:t> su </a:t>
            </a:r>
            <a:r>
              <a:rPr lang="it-IT" dirty="0" err="1">
                <a:latin typeface="Times New Roman" panose="02020603050405020304" pitchFamily="18" charset="0"/>
                <a:cs typeface="Times New Roman" panose="02020603050405020304" pitchFamily="18" charset="0"/>
              </a:rPr>
              <a:t>ImageNet</a:t>
            </a:r>
            <a:r>
              <a:rPr lang="it-IT" dirty="0">
                <a:latin typeface="Times New Roman" panose="02020603050405020304" pitchFamily="18" charset="0"/>
                <a:cs typeface="Times New Roman" panose="02020603050405020304" pitchFamily="18" charset="0"/>
              </a:rPr>
              <a:t>. Si utilizza questo modello per effettuare Transfer Learning, eliminando i </a:t>
            </a:r>
            <a:r>
              <a:rPr lang="it-IT" dirty="0" err="1">
                <a:latin typeface="Times New Roman" panose="02020603050405020304" pitchFamily="18" charset="0"/>
                <a:cs typeface="Times New Roman" panose="02020603050405020304" pitchFamily="18" charset="0"/>
              </a:rPr>
              <a:t>layer</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della </a:t>
            </a:r>
            <a:r>
              <a:rPr lang="it-IT" dirty="0" err="1">
                <a:latin typeface="Times New Roman" panose="02020603050405020304" pitchFamily="18" charset="0"/>
                <a:cs typeface="Times New Roman" panose="02020603050405020304" pitchFamily="18" charset="0"/>
              </a:rPr>
              <a:t>Inception</a:t>
            </a:r>
            <a:r>
              <a:rPr lang="it-IT" dirty="0">
                <a:latin typeface="Times New Roman" panose="02020603050405020304" pitchFamily="18" charset="0"/>
                <a:cs typeface="Times New Roman" panose="02020603050405020304" pitchFamily="18" charset="0"/>
              </a:rPr>
              <a:t> e aggiungendo:</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un livello di </a:t>
            </a:r>
            <a:r>
              <a:rPr lang="it-IT" dirty="0" err="1">
                <a:latin typeface="Times New Roman" panose="02020603050405020304" pitchFamily="18" charset="0"/>
                <a:cs typeface="Times New Roman" panose="02020603050405020304" pitchFamily="18" charset="0"/>
              </a:rPr>
              <a:t>Dropout</a:t>
            </a:r>
            <a:r>
              <a:rPr lang="it-IT" dirty="0">
                <a:latin typeface="Times New Roman" panose="02020603050405020304" pitchFamily="18" charset="0"/>
                <a:cs typeface="Times New Roman" panose="02020603050405020304" pitchFamily="18" charset="0"/>
              </a:rPr>
              <a:t> con rate 0,5</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un livello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da 1000 neuroni con </a:t>
            </a:r>
            <a:r>
              <a:rPr lang="it-IT" dirty="0" err="1">
                <a:latin typeface="Times New Roman" panose="02020603050405020304" pitchFamily="18" charset="0"/>
                <a:cs typeface="Times New Roman" panose="02020603050405020304" pitchFamily="18" charset="0"/>
              </a:rPr>
              <a:t>ReLU</a:t>
            </a:r>
            <a:r>
              <a:rPr lang="it-IT" dirty="0">
                <a:latin typeface="Times New Roman" panose="02020603050405020304" pitchFamily="18" charset="0"/>
                <a:cs typeface="Times New Roman" panose="02020603050405020304" pitchFamily="18" charset="0"/>
              </a:rPr>
              <a:t>	</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un livello </a:t>
            </a:r>
            <a:r>
              <a:rPr lang="it-IT" dirty="0" err="1">
                <a:latin typeface="Times New Roman" panose="02020603050405020304" pitchFamily="18" charset="0"/>
                <a:cs typeface="Times New Roman" panose="02020603050405020304" pitchFamily="18" charset="0"/>
              </a:rPr>
              <a:t>fully-connected</a:t>
            </a:r>
            <a:r>
              <a:rPr lang="it-IT" dirty="0">
                <a:latin typeface="Times New Roman" panose="02020603050405020304" pitchFamily="18" charset="0"/>
                <a:cs typeface="Times New Roman" panose="02020603050405020304" pitchFamily="18" charset="0"/>
              </a:rPr>
              <a:t> (di output) da 43 neuroni con </a:t>
            </a:r>
            <a:r>
              <a:rPr lang="it-IT" dirty="0" err="1">
                <a:latin typeface="Times New Roman" panose="02020603050405020304" pitchFamily="18" charset="0"/>
                <a:cs typeface="Times New Roman" panose="02020603050405020304" pitchFamily="18" charset="0"/>
              </a:rPr>
              <a:t>SoftMax</a:t>
            </a:r>
            <a:endParaRPr lang="it-IT" dirty="0">
              <a:latin typeface="Times New Roman" panose="02020603050405020304" pitchFamily="18" charset="0"/>
              <a:cs typeface="Times New Roman" panose="02020603050405020304" pitchFamily="18" charset="0"/>
            </a:endParaRPr>
          </a:p>
          <a:p>
            <a:pPr algn="just"/>
            <a:endParaRPr lang="it-IT" dirty="0">
              <a:latin typeface="Times New Roman" panose="02020603050405020304" pitchFamily="18" charset="0"/>
              <a:cs typeface="Times New Roman" panose="02020603050405020304" pitchFamily="18" charset="0"/>
            </a:endParaRPr>
          </a:p>
          <a:p>
            <a:pPr algn="just"/>
            <a:r>
              <a:rPr lang="it-IT" b="1" u="sng" dirty="0">
                <a:latin typeface="Times New Roman" panose="02020603050405020304" pitchFamily="18" charset="0"/>
                <a:cs typeface="Times New Roman" panose="02020603050405020304" pitchFamily="18" charset="0"/>
              </a:rPr>
              <a:t>Fine </a:t>
            </a:r>
            <a:r>
              <a:rPr lang="it-IT" b="1" u="sng" dirty="0" err="1">
                <a:latin typeface="Times New Roman" panose="02020603050405020304" pitchFamily="18" charset="0"/>
                <a:cs typeface="Times New Roman" panose="02020603050405020304" pitchFamily="18" charset="0"/>
              </a:rPr>
              <a:t>Tuning</a:t>
            </a:r>
            <a:r>
              <a:rPr lang="it-IT" b="1" u="sng" dirty="0">
                <a:latin typeface="Times New Roman" panose="02020603050405020304" pitchFamily="18" charset="0"/>
                <a:cs typeface="Times New Roman" panose="02020603050405020304" pitchFamily="18" charset="0"/>
              </a:rPr>
              <a:t> sull’intera rete o su alcuni </a:t>
            </a:r>
            <a:r>
              <a:rPr lang="it-IT" b="1" u="sng" dirty="0" err="1">
                <a:latin typeface="Times New Roman" panose="02020603050405020304" pitchFamily="18" charset="0"/>
                <a:cs typeface="Times New Roman" panose="02020603050405020304" pitchFamily="18" charset="0"/>
              </a:rPr>
              <a:t>layer</a:t>
            </a:r>
            <a:r>
              <a:rPr lang="it-IT" b="1" u="sng" dirty="0">
                <a:latin typeface="Times New Roman" panose="02020603050405020304" pitchFamily="18" charset="0"/>
                <a:cs typeface="Times New Roman" panose="02020603050405020304" pitchFamily="18" charset="0"/>
              </a:rPr>
              <a:t> precedenti richiedeva un eccessivo costo computazionale per la nostra potenza di calcolo</a:t>
            </a:r>
            <a:r>
              <a:rPr lang="it-IT" dirty="0">
                <a:latin typeface="Times New Roman" panose="02020603050405020304" pitchFamily="18" charset="0"/>
                <a:cs typeface="Times New Roman" panose="02020603050405020304" pitchFamily="18" charset="0"/>
              </a:rPr>
              <a:t>.</a:t>
            </a:r>
          </a:p>
          <a:p>
            <a:pPr algn="just"/>
            <a:endParaRPr lang="it-IT" dirty="0">
              <a:latin typeface="Times New Roman" panose="02020603050405020304" pitchFamily="18" charset="0"/>
              <a:cs typeface="Times New Roman" panose="02020603050405020304" pitchFamily="18" charset="0"/>
            </a:endParaRPr>
          </a:p>
          <a:p>
            <a:pPr algn="just"/>
            <a:endParaRPr lang="it-IT" dirty="0">
              <a:latin typeface="Times New Roman" panose="02020603050405020304" pitchFamily="18" charset="0"/>
              <a:cs typeface="Times New Roman" panose="02020603050405020304" pitchFamily="18" charset="0"/>
            </a:endParaRPr>
          </a:p>
          <a:p>
            <a:pPr algn="just"/>
            <a:endParaRPr lang="it-IT" dirty="0"/>
          </a:p>
        </p:txBody>
      </p:sp>
    </p:spTree>
    <p:extLst>
      <p:ext uri="{BB962C8B-B14F-4D97-AF65-F5344CB8AC3E}">
        <p14:creationId xmlns:p14="http://schemas.microsoft.com/office/powerpoint/2010/main" val="3329918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Link ai </a:t>
            </a:r>
            <a:r>
              <a:rPr lang="it-IT" sz="3200" cap="small" dirty="0" err="1">
                <a:latin typeface="Times New Roman" panose="02020603050405020304" pitchFamily="18" charset="0"/>
                <a:ea typeface="+mn-ea"/>
                <a:cs typeface="Times New Roman" panose="02020603050405020304" pitchFamily="18" charset="0"/>
              </a:rPr>
              <a:t>run</a:t>
            </a:r>
            <a:r>
              <a:rPr lang="it-IT" sz="3200" cap="small" dirty="0">
                <a:latin typeface="Times New Roman" panose="02020603050405020304" pitchFamily="18" charset="0"/>
                <a:ea typeface="+mn-ea"/>
                <a:cs typeface="Times New Roman" panose="02020603050405020304" pitchFamily="18" charset="0"/>
              </a:rPr>
              <a:t> </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6211" y="150777"/>
            <a:ext cx="2215221" cy="554666"/>
          </a:xfrm>
          <a:prstGeom prst="rect">
            <a:avLst/>
          </a:prstGeom>
        </p:spPr>
      </p:pic>
      <p:sp>
        <p:nvSpPr>
          <p:cNvPr id="3" name="CasellaDiTesto 2">
            <a:extLst>
              <a:ext uri="{FF2B5EF4-FFF2-40B4-BE49-F238E27FC236}">
                <a16:creationId xmlns:a16="http://schemas.microsoft.com/office/drawing/2014/main" id="{F273295E-11C0-1A4C-8171-1AA2206B7DB7}"/>
              </a:ext>
            </a:extLst>
          </p:cNvPr>
          <p:cNvSpPr txBox="1"/>
          <p:nvPr/>
        </p:nvSpPr>
        <p:spPr>
          <a:xfrm>
            <a:off x="387870" y="1582973"/>
            <a:ext cx="9228623" cy="1754326"/>
          </a:xfrm>
          <a:prstGeom prst="rect">
            <a:avLst/>
          </a:prstGeom>
          <a:noFill/>
        </p:spPr>
        <p:txBody>
          <a:bodyPr wrap="square" rtlCol="0">
            <a:spAutoFit/>
          </a:bodyPr>
          <a:lstStyle/>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Primo </a:t>
            </a:r>
            <a:r>
              <a:rPr lang="it-IT" dirty="0" err="1">
                <a:latin typeface="Times New Roman" panose="02020603050405020304" pitchFamily="18" charset="0"/>
                <a:cs typeface="Times New Roman" panose="02020603050405020304" pitchFamily="18" charset="0"/>
              </a:rPr>
              <a:t>run:</a:t>
            </a:r>
            <a:r>
              <a:rPr lang="it-IT" dirty="0" err="1">
                <a:latin typeface="Times New Roman" panose="02020603050405020304" pitchFamily="18" charset="0"/>
                <a:cs typeface="Times New Roman" panose="02020603050405020304" pitchFamily="18" charset="0"/>
                <a:hlinkClick r:id="rId4"/>
              </a:rPr>
              <a:t>Run</a:t>
            </a:r>
            <a:r>
              <a:rPr lang="it-IT" dirty="0">
                <a:latin typeface="Times New Roman" panose="02020603050405020304" pitchFamily="18" charset="0"/>
                <a:cs typeface="Times New Roman" panose="02020603050405020304" pitchFamily="18" charset="0"/>
                <a:hlinkClick r:id="rId4"/>
              </a:rPr>
              <a:t>/primo_run_enorme.ipynb</a:t>
            </a:r>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Run</a:t>
            </a:r>
            <a:r>
              <a:rPr lang="it-IT" dirty="0">
                <a:latin typeface="Times New Roman" panose="02020603050405020304" pitchFamily="18" charset="0"/>
                <a:cs typeface="Times New Roman" panose="02020603050405020304" pitchFamily="18" charset="0"/>
              </a:rPr>
              <a:t> aggiustamenti VGG16: </a:t>
            </a:r>
            <a:r>
              <a:rPr lang="it-IT" dirty="0">
                <a:latin typeface="Times New Roman" panose="02020603050405020304" pitchFamily="18" charset="0"/>
                <a:cs typeface="Times New Roman" panose="02020603050405020304" pitchFamily="18" charset="0"/>
                <a:hlinkClick r:id="rId5"/>
              </a:rPr>
              <a:t>Run/run_VGG16_bene.ipynb</a:t>
            </a:r>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Run</a:t>
            </a:r>
            <a:r>
              <a:rPr lang="it-IT" dirty="0">
                <a:latin typeface="Times New Roman" panose="02020603050405020304" pitchFamily="18" charset="0"/>
                <a:cs typeface="Times New Roman" panose="02020603050405020304" pitchFamily="18" charset="0"/>
              </a:rPr>
              <a:t> no data </a:t>
            </a:r>
            <a:r>
              <a:rPr lang="it-IT" dirty="0" err="1">
                <a:latin typeface="Times New Roman" panose="02020603050405020304" pitchFamily="18" charset="0"/>
                <a:cs typeface="Times New Roman" panose="02020603050405020304" pitchFamily="18" charset="0"/>
              </a:rPr>
              <a:t>augmentation</a:t>
            </a:r>
            <a:r>
              <a:rPr lang="it-IT" dirty="0">
                <a:latin typeface="Times New Roman" panose="02020603050405020304" pitchFamily="18" charset="0"/>
                <a:cs typeface="Times New Roman" panose="02020603050405020304" pitchFamily="18" charset="0"/>
              </a:rPr>
              <a:t>: </a:t>
            </a:r>
            <a:r>
              <a:rPr lang="it-IT" dirty="0">
                <a:latin typeface="Times New Roman" panose="02020603050405020304" pitchFamily="18" charset="0"/>
                <a:cs typeface="Times New Roman" panose="02020603050405020304" pitchFamily="18" charset="0"/>
                <a:hlinkClick r:id="rId5"/>
              </a:rPr>
              <a:t>Run/test_no_data_aug.ipynb</a:t>
            </a:r>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it-IT" dirty="0" err="1">
                <a:latin typeface="Times New Roman" panose="02020603050405020304" pitchFamily="18" charset="0"/>
                <a:cs typeface="Times New Roman" panose="02020603050405020304" pitchFamily="18" charset="0"/>
              </a:rPr>
              <a:t>Run</a:t>
            </a:r>
            <a:r>
              <a:rPr lang="it-IT" dirty="0">
                <a:latin typeface="Times New Roman" panose="02020603050405020304" pitchFamily="18" charset="0"/>
                <a:cs typeface="Times New Roman" panose="02020603050405020304" pitchFamily="18" charset="0"/>
              </a:rPr>
              <a:t> data </a:t>
            </a:r>
            <a:r>
              <a:rPr lang="it-IT" dirty="0" err="1">
                <a:latin typeface="Times New Roman" panose="02020603050405020304" pitchFamily="18" charset="0"/>
                <a:cs typeface="Times New Roman" panose="02020603050405020304" pitchFamily="18" charset="0"/>
              </a:rPr>
              <a:t>augmentation</a:t>
            </a:r>
            <a:r>
              <a:rPr lang="it-IT" dirty="0">
                <a:latin typeface="Times New Roman" panose="02020603050405020304" pitchFamily="18" charset="0"/>
                <a:cs typeface="Times New Roman" panose="02020603050405020304" pitchFamily="18" charset="0"/>
              </a:rPr>
              <a:t>: </a:t>
            </a:r>
            <a:r>
              <a:rPr lang="it-IT" dirty="0">
                <a:latin typeface="Times New Roman" panose="02020603050405020304" pitchFamily="18" charset="0"/>
                <a:cs typeface="Times New Roman" panose="02020603050405020304" pitchFamily="18" charset="0"/>
                <a:hlinkClick r:id="rId5"/>
              </a:rPr>
              <a:t>Run/test_data_aug.ipynb</a:t>
            </a:r>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Ultimo </a:t>
            </a:r>
            <a:r>
              <a:rPr lang="it-IT" dirty="0" err="1">
                <a:latin typeface="Times New Roman" panose="02020603050405020304" pitchFamily="18" charset="0"/>
                <a:cs typeface="Times New Roman" panose="02020603050405020304" pitchFamily="18" charset="0"/>
              </a:rPr>
              <a:t>run</a:t>
            </a:r>
            <a:r>
              <a:rPr lang="it-IT" dirty="0">
                <a:latin typeface="Times New Roman" panose="02020603050405020304" pitchFamily="18" charset="0"/>
                <a:cs typeface="Times New Roman" panose="02020603050405020304" pitchFamily="18" charset="0"/>
              </a:rPr>
              <a:t>: </a:t>
            </a:r>
            <a:r>
              <a:rPr lang="it-IT" dirty="0">
                <a:latin typeface="Times New Roman" panose="02020603050405020304" pitchFamily="18" charset="0"/>
                <a:cs typeface="Times New Roman" panose="02020603050405020304" pitchFamily="18" charset="0"/>
                <a:hlinkClick r:id="rId5"/>
              </a:rPr>
              <a:t>Run/Ultimo_run.ipynb</a:t>
            </a:r>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421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75139" y="827760"/>
            <a:ext cx="8819237"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Risultati </a:t>
            </a:r>
            <a:r>
              <a:rPr lang="it-IT" sz="3200" cap="small" dirty="0" err="1">
                <a:latin typeface="Times New Roman" panose="02020603050405020304" pitchFamily="18" charset="0"/>
                <a:ea typeface="+mn-ea"/>
                <a:cs typeface="Times New Roman" panose="02020603050405020304" pitchFamily="18" charset="0"/>
              </a:rPr>
              <a:t>MyNetwork</a:t>
            </a:r>
            <a:r>
              <a:rPr lang="it-IT" sz="3200" cap="small" dirty="0">
                <a:latin typeface="Times New Roman" panose="02020603050405020304" pitchFamily="18" charset="0"/>
                <a:ea typeface="+mn-ea"/>
                <a:cs typeface="Times New Roman" panose="02020603050405020304" pitchFamily="18" charset="0"/>
              </a:rPr>
              <a:t> (no data </a:t>
            </a:r>
            <a:r>
              <a:rPr lang="it-IT" sz="3200" cap="small" dirty="0" err="1">
                <a:latin typeface="Times New Roman" panose="02020603050405020304" pitchFamily="18" charset="0"/>
                <a:ea typeface="+mn-ea"/>
                <a:cs typeface="Times New Roman" panose="02020603050405020304" pitchFamily="18" charset="0"/>
              </a:rPr>
              <a:t>augmentation</a:t>
            </a:r>
            <a:r>
              <a:rPr lang="it-IT" sz="3200" cap="small" dirty="0">
                <a:latin typeface="Times New Roman" panose="02020603050405020304" pitchFamily="18" charset="0"/>
                <a:ea typeface="+mn-ea"/>
                <a:cs typeface="Times New Roman" panose="02020603050405020304" pitchFamily="18" charset="0"/>
              </a:rPr>
              <a:t>) </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9155" y="158007"/>
            <a:ext cx="2215221" cy="554666"/>
          </a:xfrm>
          <a:prstGeom prst="rect">
            <a:avLst/>
          </a:prstGeom>
        </p:spPr>
      </p:pic>
      <p:sp>
        <p:nvSpPr>
          <p:cNvPr id="12" name="CasellaDiTesto 11">
            <a:extLst>
              <a:ext uri="{FF2B5EF4-FFF2-40B4-BE49-F238E27FC236}">
                <a16:creationId xmlns:a16="http://schemas.microsoft.com/office/drawing/2014/main" id="{AA4CA4C5-975E-F946-8EAB-B261861636EA}"/>
              </a:ext>
            </a:extLst>
          </p:cNvPr>
          <p:cNvSpPr txBox="1"/>
          <p:nvPr/>
        </p:nvSpPr>
        <p:spPr>
          <a:xfrm>
            <a:off x="200472" y="6203930"/>
            <a:ext cx="8453020" cy="369332"/>
          </a:xfrm>
          <a:prstGeom prst="rect">
            <a:avLst/>
          </a:prstGeom>
          <a:noFill/>
        </p:spPr>
        <p:txBody>
          <a:bodyPr wrap="none" rtlCol="0">
            <a:spAutoFit/>
          </a:bodyPr>
          <a:lstStyle/>
          <a:p>
            <a:r>
              <a:rPr lang="it-IT" dirty="0">
                <a:latin typeface="Times New Roman" panose="02020603050405020304" pitchFamily="18" charset="0"/>
                <a:cs typeface="Times New Roman" panose="02020603050405020304" pitchFamily="18" charset="0"/>
              </a:rPr>
              <a:t>Contro un 94.1% e 94.8% di F1-score con </a:t>
            </a:r>
            <a:r>
              <a:rPr lang="it-IT" dirty="0">
                <a:latin typeface="Times New Roman" panose="02020603050405020304" pitchFamily="18" charset="0"/>
                <a:cs typeface="Times New Roman" panose="02020603050405020304" pitchFamily="18" charset="0"/>
                <a:hlinkClick r:id="rId4"/>
              </a:rPr>
              <a:t>20 e 30</a:t>
            </a:r>
            <a:r>
              <a:rPr lang="it-IT" dirty="0">
                <a:latin typeface="Times New Roman" panose="02020603050405020304" pitchFamily="18" charset="0"/>
                <a:cs typeface="Times New Roman" panose="02020603050405020304" pitchFamily="18" charset="0"/>
              </a:rPr>
              <a:t> epoche, Adam, </a:t>
            </a:r>
            <a:r>
              <a:rPr lang="it-IT" dirty="0" err="1">
                <a:latin typeface="Times New Roman" panose="02020603050405020304" pitchFamily="18" charset="0"/>
                <a:cs typeface="Times New Roman" panose="02020603050405020304" pitchFamily="18" charset="0"/>
              </a:rPr>
              <a:t>lr</a:t>
            </a:r>
            <a:r>
              <a:rPr lang="it-IT" dirty="0">
                <a:latin typeface="Times New Roman" panose="02020603050405020304" pitchFamily="18" charset="0"/>
                <a:cs typeface="Times New Roman" panose="02020603050405020304" pitchFamily="18" charset="0"/>
              </a:rPr>
              <a:t>=0.001 e batch=256. </a:t>
            </a:r>
          </a:p>
        </p:txBody>
      </p:sp>
      <p:pic>
        <p:nvPicPr>
          <p:cNvPr id="4" name="Immagine 3">
            <a:extLst>
              <a:ext uri="{FF2B5EF4-FFF2-40B4-BE49-F238E27FC236}">
                <a16:creationId xmlns:a16="http://schemas.microsoft.com/office/drawing/2014/main" id="{C70D0DC2-CD46-DE40-9245-DEF9EC4987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639421"/>
            <a:ext cx="9906000" cy="944475"/>
          </a:xfrm>
          <a:prstGeom prst="rect">
            <a:avLst/>
          </a:prstGeom>
        </p:spPr>
      </p:pic>
      <p:pic>
        <p:nvPicPr>
          <p:cNvPr id="9" name="Immagine 8">
            <a:extLst>
              <a:ext uri="{FF2B5EF4-FFF2-40B4-BE49-F238E27FC236}">
                <a16:creationId xmlns:a16="http://schemas.microsoft.com/office/drawing/2014/main" id="{C7C0CB91-D3B0-074B-A3BF-C3AF873EC9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2729489"/>
            <a:ext cx="9906000" cy="3206436"/>
          </a:xfrm>
          <a:prstGeom prst="rect">
            <a:avLst/>
          </a:prstGeom>
        </p:spPr>
      </p:pic>
    </p:spTree>
    <p:extLst>
      <p:ext uri="{BB962C8B-B14F-4D97-AF65-F5344CB8AC3E}">
        <p14:creationId xmlns:p14="http://schemas.microsoft.com/office/powerpoint/2010/main" val="2070174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Risultati </a:t>
            </a:r>
            <a:r>
              <a:rPr lang="it-IT" sz="3200" cap="small" dirty="0" err="1">
                <a:latin typeface="Times New Roman" panose="02020603050405020304" pitchFamily="18" charset="0"/>
                <a:ea typeface="+mn-ea"/>
                <a:cs typeface="Times New Roman" panose="02020603050405020304" pitchFamily="18" charset="0"/>
              </a:rPr>
              <a:t>MyNetwork</a:t>
            </a:r>
            <a:r>
              <a:rPr lang="it-IT" sz="3200" cap="small" dirty="0">
                <a:latin typeface="Times New Roman" panose="02020603050405020304" pitchFamily="18" charset="0"/>
                <a:ea typeface="+mn-ea"/>
                <a:cs typeface="Times New Roman" panose="02020603050405020304" pitchFamily="18" charset="0"/>
              </a:rPr>
              <a:t>  (data </a:t>
            </a:r>
            <a:r>
              <a:rPr lang="it-IT" sz="3200" cap="small" dirty="0" err="1">
                <a:latin typeface="Times New Roman" panose="02020603050405020304" pitchFamily="18" charset="0"/>
                <a:ea typeface="+mn-ea"/>
                <a:cs typeface="Times New Roman" panose="02020603050405020304" pitchFamily="18" charset="0"/>
              </a:rPr>
              <a:t>augmentation</a:t>
            </a:r>
            <a:r>
              <a:rPr lang="it-IT" sz="3200" cap="small" dirty="0">
                <a:latin typeface="Times New Roman" panose="02020603050405020304" pitchFamily="18" charset="0"/>
                <a:ea typeface="+mn-ea"/>
                <a:cs typeface="Times New Roman" panose="02020603050405020304" pitchFamily="18" charset="0"/>
              </a:rPr>
              <a:t>)</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193703"/>
            <a:ext cx="2215221" cy="554666"/>
          </a:xfrm>
          <a:prstGeom prst="rect">
            <a:avLst/>
          </a:prstGeom>
        </p:spPr>
      </p:pic>
      <p:sp>
        <p:nvSpPr>
          <p:cNvPr id="3" name="CasellaDiTesto 2">
            <a:extLst>
              <a:ext uri="{FF2B5EF4-FFF2-40B4-BE49-F238E27FC236}">
                <a16:creationId xmlns:a16="http://schemas.microsoft.com/office/drawing/2014/main" id="{F273295E-11C0-1A4C-8171-1AA2206B7DB7}"/>
              </a:ext>
            </a:extLst>
          </p:cNvPr>
          <p:cNvSpPr txBox="1"/>
          <p:nvPr/>
        </p:nvSpPr>
        <p:spPr>
          <a:xfrm>
            <a:off x="387870" y="1582973"/>
            <a:ext cx="9228623" cy="1200329"/>
          </a:xfrm>
          <a:prstGeom prst="rect">
            <a:avLst/>
          </a:prstGeom>
          <a:noFill/>
        </p:spPr>
        <p:txBody>
          <a:bodyPr wrap="square" rtlCol="0">
            <a:spAutoFit/>
          </a:bodyPr>
          <a:lstStyle/>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pPr algn="just"/>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p:txBody>
      </p:sp>
      <p:sp>
        <p:nvSpPr>
          <p:cNvPr id="8" name="CasellaDiTesto 7">
            <a:extLst>
              <a:ext uri="{FF2B5EF4-FFF2-40B4-BE49-F238E27FC236}">
                <a16:creationId xmlns:a16="http://schemas.microsoft.com/office/drawing/2014/main" id="{58A6952E-3C60-4147-8607-71A2850777A8}"/>
              </a:ext>
            </a:extLst>
          </p:cNvPr>
          <p:cNvSpPr txBox="1"/>
          <p:nvPr/>
        </p:nvSpPr>
        <p:spPr>
          <a:xfrm>
            <a:off x="272480" y="6165304"/>
            <a:ext cx="7633885" cy="369332"/>
          </a:xfrm>
          <a:prstGeom prst="rect">
            <a:avLst/>
          </a:prstGeom>
          <a:noFill/>
        </p:spPr>
        <p:txBody>
          <a:bodyPr wrap="none" rtlCol="0">
            <a:spAutoFit/>
          </a:bodyPr>
          <a:lstStyle/>
          <a:p>
            <a:r>
              <a:rPr lang="it-IT" dirty="0">
                <a:latin typeface="Times New Roman" panose="02020603050405020304" pitchFamily="18" charset="0"/>
                <a:cs typeface="Times New Roman" panose="02020603050405020304" pitchFamily="18" charset="0"/>
              </a:rPr>
              <a:t>Contro</a:t>
            </a:r>
            <a:r>
              <a:rPr lang="it-IT" dirty="0"/>
              <a:t> </a:t>
            </a:r>
            <a:r>
              <a:rPr lang="it-IT" dirty="0">
                <a:latin typeface="Times New Roman" panose="02020603050405020304" pitchFamily="18" charset="0"/>
                <a:cs typeface="Times New Roman" panose="02020603050405020304" pitchFamily="18" charset="0"/>
              </a:rPr>
              <a:t>un 90.92% e 90.99% con </a:t>
            </a:r>
            <a:r>
              <a:rPr lang="it-IT" dirty="0">
                <a:latin typeface="Times New Roman" panose="02020603050405020304" pitchFamily="18" charset="0"/>
                <a:cs typeface="Times New Roman" panose="02020603050405020304" pitchFamily="18" charset="0"/>
                <a:hlinkClick r:id="rId4"/>
              </a:rPr>
              <a:t>20</a:t>
            </a:r>
            <a:r>
              <a:rPr lang="it-IT" dirty="0">
                <a:latin typeface="Times New Roman" panose="02020603050405020304" pitchFamily="18" charset="0"/>
                <a:cs typeface="Times New Roman" panose="02020603050405020304" pitchFamily="18" charset="0"/>
              </a:rPr>
              <a:t> e </a:t>
            </a:r>
            <a:r>
              <a:rPr lang="it-IT" dirty="0">
                <a:latin typeface="Times New Roman" panose="02020603050405020304" pitchFamily="18" charset="0"/>
                <a:cs typeface="Times New Roman" panose="02020603050405020304" pitchFamily="18" charset="0"/>
                <a:hlinkClick r:id="rId5"/>
              </a:rPr>
              <a:t>15</a:t>
            </a:r>
            <a:r>
              <a:rPr lang="it-IT" dirty="0">
                <a:latin typeface="Times New Roman" panose="02020603050405020304" pitchFamily="18" charset="0"/>
                <a:cs typeface="Times New Roman" panose="02020603050405020304" pitchFamily="18" charset="0"/>
              </a:rPr>
              <a:t> epoche, Adam, </a:t>
            </a:r>
            <a:r>
              <a:rPr lang="it-IT" dirty="0" err="1">
                <a:latin typeface="Times New Roman" panose="02020603050405020304" pitchFamily="18" charset="0"/>
                <a:cs typeface="Times New Roman" panose="02020603050405020304" pitchFamily="18" charset="0"/>
              </a:rPr>
              <a:t>lr</a:t>
            </a:r>
            <a:r>
              <a:rPr lang="it-IT" dirty="0">
                <a:latin typeface="Times New Roman" panose="02020603050405020304" pitchFamily="18" charset="0"/>
                <a:cs typeface="Times New Roman" panose="02020603050405020304" pitchFamily="18" charset="0"/>
              </a:rPr>
              <a:t>=0.001 e batch=256.</a:t>
            </a:r>
          </a:p>
        </p:txBody>
      </p:sp>
      <p:pic>
        <p:nvPicPr>
          <p:cNvPr id="10" name="Immagine 9">
            <a:extLst>
              <a:ext uri="{FF2B5EF4-FFF2-40B4-BE49-F238E27FC236}">
                <a16:creationId xmlns:a16="http://schemas.microsoft.com/office/drawing/2014/main" id="{DA32ABE8-0448-0D49-97F9-DCCDCB028A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593657"/>
            <a:ext cx="9906000" cy="979552"/>
          </a:xfrm>
          <a:prstGeom prst="rect">
            <a:avLst/>
          </a:prstGeom>
        </p:spPr>
      </p:pic>
      <p:pic>
        <p:nvPicPr>
          <p:cNvPr id="12" name="Immagine 11">
            <a:extLst>
              <a:ext uri="{FF2B5EF4-FFF2-40B4-BE49-F238E27FC236}">
                <a16:creationId xmlns:a16="http://schemas.microsoft.com/office/drawing/2014/main" id="{30AB0014-C937-B140-9CAC-A2D98B5928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00" y="2676089"/>
            <a:ext cx="9906000" cy="3279122"/>
          </a:xfrm>
          <a:prstGeom prst="rect">
            <a:avLst/>
          </a:prstGeom>
        </p:spPr>
      </p:pic>
    </p:spTree>
    <p:extLst>
      <p:ext uri="{BB962C8B-B14F-4D97-AF65-F5344CB8AC3E}">
        <p14:creationId xmlns:p14="http://schemas.microsoft.com/office/powerpoint/2010/main" val="3316236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Risultati </a:t>
            </a:r>
            <a:r>
              <a:rPr lang="it-IT" sz="3200" cap="small" dirty="0" err="1">
                <a:latin typeface="Times New Roman" panose="02020603050405020304" pitchFamily="18" charset="0"/>
                <a:ea typeface="+mn-ea"/>
                <a:cs typeface="Times New Roman" panose="02020603050405020304" pitchFamily="18" charset="0"/>
              </a:rPr>
              <a:t>MyNetwork</a:t>
            </a:r>
            <a:r>
              <a:rPr lang="it-IT" sz="3200" cap="small" dirty="0">
                <a:latin typeface="Times New Roman" panose="02020603050405020304" pitchFamily="18" charset="0"/>
                <a:ea typeface="+mn-ea"/>
                <a:cs typeface="Times New Roman" panose="02020603050405020304" pitchFamily="18" charset="0"/>
              </a:rPr>
              <a:t> </a:t>
            </a:r>
            <a:r>
              <a:rPr lang="it-IT" sz="3200" cap="small" dirty="0" err="1">
                <a:latin typeface="Times New Roman" panose="02020603050405020304" pitchFamily="18" charset="0"/>
                <a:ea typeface="+mn-ea"/>
                <a:cs typeface="Times New Roman" panose="02020603050405020304" pitchFamily="18" charset="0"/>
              </a:rPr>
              <a:t>Deeper</a:t>
            </a:r>
            <a:r>
              <a:rPr lang="it-IT" sz="3200" cap="small" dirty="0">
                <a:latin typeface="Times New Roman" panose="02020603050405020304" pitchFamily="18" charset="0"/>
                <a:ea typeface="+mn-ea"/>
                <a:cs typeface="Times New Roman" panose="02020603050405020304" pitchFamily="18" charset="0"/>
              </a:rPr>
              <a:t> (no data </a:t>
            </a:r>
            <a:r>
              <a:rPr lang="it-IT" sz="3200" cap="small" dirty="0" err="1">
                <a:latin typeface="Times New Roman" panose="02020603050405020304" pitchFamily="18" charset="0"/>
                <a:ea typeface="+mn-ea"/>
                <a:cs typeface="Times New Roman" panose="02020603050405020304" pitchFamily="18" charset="0"/>
              </a:rPr>
              <a:t>augmentation</a:t>
            </a:r>
            <a:r>
              <a:rPr lang="it-IT" sz="3200" cap="small" dirty="0">
                <a:latin typeface="Times New Roman" panose="02020603050405020304" pitchFamily="18" charset="0"/>
                <a:ea typeface="+mn-ea"/>
                <a:cs typeface="Times New Roman" panose="02020603050405020304" pitchFamily="18" charset="0"/>
              </a:rPr>
              <a:t>)</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182378"/>
            <a:ext cx="2215221" cy="554666"/>
          </a:xfrm>
          <a:prstGeom prst="rect">
            <a:avLst/>
          </a:prstGeom>
        </p:spPr>
      </p:pic>
      <p:sp>
        <p:nvSpPr>
          <p:cNvPr id="3" name="CasellaDiTesto 2">
            <a:extLst>
              <a:ext uri="{FF2B5EF4-FFF2-40B4-BE49-F238E27FC236}">
                <a16:creationId xmlns:a16="http://schemas.microsoft.com/office/drawing/2014/main" id="{B9DEB332-66EF-B54E-AFBC-7C336D15C393}"/>
              </a:ext>
            </a:extLst>
          </p:cNvPr>
          <p:cNvSpPr txBox="1"/>
          <p:nvPr/>
        </p:nvSpPr>
        <p:spPr>
          <a:xfrm>
            <a:off x="272480" y="6309320"/>
            <a:ext cx="8403326" cy="369332"/>
          </a:xfrm>
          <a:prstGeom prst="rect">
            <a:avLst/>
          </a:prstGeom>
          <a:noFill/>
        </p:spPr>
        <p:txBody>
          <a:bodyPr wrap="none" rtlCol="0">
            <a:spAutoFit/>
          </a:bodyPr>
          <a:lstStyle/>
          <a:p>
            <a:r>
              <a:rPr lang="it-IT" dirty="0">
                <a:latin typeface="Times New Roman" panose="02020603050405020304" pitchFamily="18" charset="0"/>
                <a:cs typeface="Times New Roman" panose="02020603050405020304" pitchFamily="18" charset="0"/>
              </a:rPr>
              <a:t>Contro</a:t>
            </a:r>
            <a:r>
              <a:rPr lang="it-IT" dirty="0"/>
              <a:t> </a:t>
            </a:r>
            <a:r>
              <a:rPr lang="it-IT" dirty="0">
                <a:latin typeface="Times New Roman" panose="02020603050405020304" pitchFamily="18" charset="0"/>
                <a:cs typeface="Times New Roman" panose="02020603050405020304" pitchFamily="18" charset="0"/>
              </a:rPr>
              <a:t>un 93.05% e 94.3% di F1-score con </a:t>
            </a:r>
            <a:r>
              <a:rPr lang="it-IT" dirty="0">
                <a:latin typeface="Times New Roman" panose="02020603050405020304" pitchFamily="18" charset="0"/>
                <a:cs typeface="Times New Roman" panose="02020603050405020304" pitchFamily="18" charset="0"/>
                <a:hlinkClick r:id="rId4"/>
              </a:rPr>
              <a:t>15</a:t>
            </a:r>
            <a:r>
              <a:rPr lang="it-IT" dirty="0">
                <a:latin typeface="Times New Roman" panose="02020603050405020304" pitchFamily="18" charset="0"/>
                <a:cs typeface="Times New Roman" panose="02020603050405020304" pitchFamily="18" charset="0"/>
              </a:rPr>
              <a:t> e </a:t>
            </a:r>
            <a:r>
              <a:rPr lang="it-IT" dirty="0">
                <a:latin typeface="Times New Roman" panose="02020603050405020304" pitchFamily="18" charset="0"/>
                <a:cs typeface="Times New Roman" panose="02020603050405020304" pitchFamily="18" charset="0"/>
                <a:hlinkClick r:id="rId5"/>
              </a:rPr>
              <a:t>30</a:t>
            </a:r>
            <a:r>
              <a:rPr lang="it-IT" dirty="0">
                <a:latin typeface="Times New Roman" panose="02020603050405020304" pitchFamily="18" charset="0"/>
                <a:cs typeface="Times New Roman" panose="02020603050405020304" pitchFamily="18" charset="0"/>
              </a:rPr>
              <a:t> epoche, Adam, </a:t>
            </a:r>
            <a:r>
              <a:rPr lang="it-IT" dirty="0" err="1">
                <a:latin typeface="Times New Roman" panose="02020603050405020304" pitchFamily="18" charset="0"/>
                <a:cs typeface="Times New Roman" panose="02020603050405020304" pitchFamily="18" charset="0"/>
              </a:rPr>
              <a:t>lr</a:t>
            </a:r>
            <a:r>
              <a:rPr lang="it-IT" dirty="0">
                <a:latin typeface="Times New Roman" panose="02020603050405020304" pitchFamily="18" charset="0"/>
                <a:cs typeface="Times New Roman" panose="02020603050405020304" pitchFamily="18" charset="0"/>
              </a:rPr>
              <a:t>=0.001 e batch=256.</a:t>
            </a:r>
          </a:p>
        </p:txBody>
      </p:sp>
      <p:pic>
        <p:nvPicPr>
          <p:cNvPr id="8" name="Immagine 7">
            <a:extLst>
              <a:ext uri="{FF2B5EF4-FFF2-40B4-BE49-F238E27FC236}">
                <a16:creationId xmlns:a16="http://schemas.microsoft.com/office/drawing/2014/main" id="{EF697E14-536E-4242-A883-2F3C4B7C83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769104"/>
            <a:ext cx="9906000" cy="960313"/>
          </a:xfrm>
          <a:prstGeom prst="rect">
            <a:avLst/>
          </a:prstGeom>
        </p:spPr>
      </p:pic>
      <p:pic>
        <p:nvPicPr>
          <p:cNvPr id="11" name="Immagine 10">
            <a:extLst>
              <a:ext uri="{FF2B5EF4-FFF2-40B4-BE49-F238E27FC236}">
                <a16:creationId xmlns:a16="http://schemas.microsoft.com/office/drawing/2014/main" id="{9006D5E2-4E81-E143-960E-289B73D5FF3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945" y="2804643"/>
            <a:ext cx="9894055" cy="3184649"/>
          </a:xfrm>
          <a:prstGeom prst="rect">
            <a:avLst/>
          </a:prstGeom>
        </p:spPr>
      </p:pic>
    </p:spTree>
    <p:extLst>
      <p:ext uri="{BB962C8B-B14F-4D97-AF65-F5344CB8AC3E}">
        <p14:creationId xmlns:p14="http://schemas.microsoft.com/office/powerpoint/2010/main" val="1459945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Risultati </a:t>
            </a:r>
            <a:r>
              <a:rPr lang="it-IT" sz="3200" cap="small" dirty="0" err="1">
                <a:latin typeface="Times New Roman" panose="02020603050405020304" pitchFamily="18" charset="0"/>
                <a:ea typeface="+mn-ea"/>
                <a:cs typeface="Times New Roman" panose="02020603050405020304" pitchFamily="18" charset="0"/>
              </a:rPr>
              <a:t>MyNetwork</a:t>
            </a:r>
            <a:r>
              <a:rPr lang="it-IT" sz="3200" cap="small" dirty="0">
                <a:latin typeface="Times New Roman" panose="02020603050405020304" pitchFamily="18" charset="0"/>
                <a:ea typeface="+mn-ea"/>
                <a:cs typeface="Times New Roman" panose="02020603050405020304" pitchFamily="18" charset="0"/>
              </a:rPr>
              <a:t> </a:t>
            </a:r>
            <a:r>
              <a:rPr lang="it-IT" sz="3200" cap="small" dirty="0" err="1">
                <a:latin typeface="Times New Roman" panose="02020603050405020304" pitchFamily="18" charset="0"/>
                <a:ea typeface="+mn-ea"/>
                <a:cs typeface="Times New Roman" panose="02020603050405020304" pitchFamily="18" charset="0"/>
              </a:rPr>
              <a:t>Deeper</a:t>
            </a:r>
            <a:r>
              <a:rPr lang="it-IT" sz="3200" cap="small" dirty="0">
                <a:latin typeface="Times New Roman" panose="02020603050405020304" pitchFamily="18" charset="0"/>
                <a:ea typeface="+mn-ea"/>
                <a:cs typeface="Times New Roman" panose="02020603050405020304" pitchFamily="18" charset="0"/>
              </a:rPr>
              <a:t> (data </a:t>
            </a:r>
            <a:r>
              <a:rPr lang="it-IT" sz="3200" cap="small" dirty="0" err="1">
                <a:latin typeface="Times New Roman" panose="02020603050405020304" pitchFamily="18" charset="0"/>
                <a:ea typeface="+mn-ea"/>
                <a:cs typeface="Times New Roman" panose="02020603050405020304" pitchFamily="18" charset="0"/>
              </a:rPr>
              <a:t>augmentation</a:t>
            </a:r>
            <a:r>
              <a:rPr lang="it-IT" sz="3200" cap="small" dirty="0">
                <a:latin typeface="Times New Roman" panose="02020603050405020304" pitchFamily="18" charset="0"/>
                <a:ea typeface="+mn-ea"/>
                <a:cs typeface="Times New Roman" panose="02020603050405020304" pitchFamily="18" charset="0"/>
              </a:rPr>
              <a:t>)</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170223"/>
            <a:ext cx="2215221" cy="554666"/>
          </a:xfrm>
          <a:prstGeom prst="rect">
            <a:avLst/>
          </a:prstGeom>
        </p:spPr>
      </p:pic>
      <p:sp>
        <p:nvSpPr>
          <p:cNvPr id="3" name="CasellaDiTesto 2">
            <a:extLst>
              <a:ext uri="{FF2B5EF4-FFF2-40B4-BE49-F238E27FC236}">
                <a16:creationId xmlns:a16="http://schemas.microsoft.com/office/drawing/2014/main" id="{CA5E3E9B-102B-7C42-AD05-5550133FB49A}"/>
              </a:ext>
            </a:extLst>
          </p:cNvPr>
          <p:cNvSpPr txBox="1"/>
          <p:nvPr/>
        </p:nvSpPr>
        <p:spPr>
          <a:xfrm>
            <a:off x="363092" y="6301344"/>
            <a:ext cx="8461034" cy="369332"/>
          </a:xfrm>
          <a:prstGeom prst="rect">
            <a:avLst/>
          </a:prstGeom>
          <a:noFill/>
        </p:spPr>
        <p:txBody>
          <a:bodyPr wrap="none" rtlCol="0">
            <a:spAutoFit/>
          </a:bodyPr>
          <a:lstStyle/>
          <a:p>
            <a:r>
              <a:rPr lang="it-IT" dirty="0">
                <a:latin typeface="Times New Roman" panose="02020603050405020304" pitchFamily="18" charset="0"/>
                <a:cs typeface="Times New Roman" panose="02020603050405020304" pitchFamily="18" charset="0"/>
              </a:rPr>
              <a:t>Contro</a:t>
            </a:r>
            <a:r>
              <a:rPr lang="it-IT" dirty="0"/>
              <a:t> </a:t>
            </a:r>
            <a:r>
              <a:rPr lang="it-IT" dirty="0">
                <a:latin typeface="Times New Roman" panose="02020603050405020304" pitchFamily="18" charset="0"/>
                <a:cs typeface="Times New Roman" panose="02020603050405020304" pitchFamily="18" charset="0"/>
              </a:rPr>
              <a:t>un 88.04% e 91.4% di F1-score con </a:t>
            </a:r>
            <a:r>
              <a:rPr lang="it-IT" dirty="0">
                <a:latin typeface="Times New Roman" panose="02020603050405020304" pitchFamily="18" charset="0"/>
                <a:cs typeface="Times New Roman" panose="02020603050405020304" pitchFamily="18" charset="0"/>
                <a:hlinkClick r:id="rId4"/>
              </a:rPr>
              <a:t>15</a:t>
            </a:r>
            <a:r>
              <a:rPr lang="it-IT" dirty="0">
                <a:latin typeface="Times New Roman" panose="02020603050405020304" pitchFamily="18" charset="0"/>
                <a:cs typeface="Times New Roman" panose="02020603050405020304" pitchFamily="18" charset="0"/>
              </a:rPr>
              <a:t> e </a:t>
            </a:r>
            <a:r>
              <a:rPr lang="it-IT" dirty="0">
                <a:latin typeface="Times New Roman" panose="02020603050405020304" pitchFamily="18" charset="0"/>
                <a:cs typeface="Times New Roman" panose="02020603050405020304" pitchFamily="18" charset="0"/>
                <a:hlinkClick r:id="rId4"/>
              </a:rPr>
              <a:t>20</a:t>
            </a:r>
            <a:r>
              <a:rPr lang="it-IT" dirty="0">
                <a:latin typeface="Times New Roman" panose="02020603050405020304" pitchFamily="18" charset="0"/>
                <a:cs typeface="Times New Roman" panose="02020603050405020304" pitchFamily="18" charset="0"/>
              </a:rPr>
              <a:t> epoche, Adam, </a:t>
            </a:r>
            <a:r>
              <a:rPr lang="it-IT" dirty="0" err="1">
                <a:latin typeface="Times New Roman" panose="02020603050405020304" pitchFamily="18" charset="0"/>
                <a:cs typeface="Times New Roman" panose="02020603050405020304" pitchFamily="18" charset="0"/>
              </a:rPr>
              <a:t>lr</a:t>
            </a:r>
            <a:r>
              <a:rPr lang="it-IT" dirty="0">
                <a:latin typeface="Times New Roman" panose="02020603050405020304" pitchFamily="18" charset="0"/>
                <a:cs typeface="Times New Roman" panose="02020603050405020304" pitchFamily="18" charset="0"/>
              </a:rPr>
              <a:t>=0.001 e batch=256.</a:t>
            </a:r>
          </a:p>
        </p:txBody>
      </p:sp>
      <p:pic>
        <p:nvPicPr>
          <p:cNvPr id="8" name="Immagine 7">
            <a:extLst>
              <a:ext uri="{FF2B5EF4-FFF2-40B4-BE49-F238E27FC236}">
                <a16:creationId xmlns:a16="http://schemas.microsoft.com/office/drawing/2014/main" id="{0FF3AFE7-B44B-8045-9E82-C590FBC547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916832"/>
            <a:ext cx="9906000" cy="1014116"/>
          </a:xfrm>
          <a:prstGeom prst="rect">
            <a:avLst/>
          </a:prstGeom>
        </p:spPr>
      </p:pic>
      <p:pic>
        <p:nvPicPr>
          <p:cNvPr id="11" name="Immagine 10">
            <a:extLst>
              <a:ext uri="{FF2B5EF4-FFF2-40B4-BE49-F238E27FC236}">
                <a16:creationId xmlns:a16="http://schemas.microsoft.com/office/drawing/2014/main" id="{8B4C1805-D43D-2145-A5D9-F1BED3D7BE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2982871"/>
            <a:ext cx="9906000" cy="3324931"/>
          </a:xfrm>
          <a:prstGeom prst="rect">
            <a:avLst/>
          </a:prstGeom>
        </p:spPr>
      </p:pic>
    </p:spTree>
    <p:extLst>
      <p:ext uri="{BB962C8B-B14F-4D97-AF65-F5344CB8AC3E}">
        <p14:creationId xmlns:p14="http://schemas.microsoft.com/office/powerpoint/2010/main" val="1148433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Risultati VGG16 (no data </a:t>
            </a:r>
            <a:r>
              <a:rPr lang="it-IT" sz="3200" cap="small" dirty="0" err="1">
                <a:latin typeface="Times New Roman" panose="02020603050405020304" pitchFamily="18" charset="0"/>
                <a:ea typeface="+mn-ea"/>
                <a:cs typeface="Times New Roman" panose="02020603050405020304" pitchFamily="18" charset="0"/>
              </a:rPr>
              <a:t>augmentation</a:t>
            </a:r>
            <a:r>
              <a:rPr lang="it-IT" sz="3200" cap="small" dirty="0">
                <a:latin typeface="Times New Roman" panose="02020603050405020304" pitchFamily="18" charset="0"/>
                <a:ea typeface="+mn-ea"/>
                <a:cs typeface="Times New Roman" panose="02020603050405020304" pitchFamily="18" charset="0"/>
              </a:rPr>
              <a:t>)</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206588"/>
            <a:ext cx="2215221" cy="554666"/>
          </a:xfrm>
          <a:prstGeom prst="rect">
            <a:avLst/>
          </a:prstGeom>
        </p:spPr>
      </p:pic>
      <p:sp>
        <p:nvSpPr>
          <p:cNvPr id="11" name="CasellaDiTesto 10">
            <a:extLst>
              <a:ext uri="{FF2B5EF4-FFF2-40B4-BE49-F238E27FC236}">
                <a16:creationId xmlns:a16="http://schemas.microsoft.com/office/drawing/2014/main" id="{08C4A103-A05C-8B42-A227-5ADF7E796062}"/>
              </a:ext>
            </a:extLst>
          </p:cNvPr>
          <p:cNvSpPr txBox="1"/>
          <p:nvPr/>
        </p:nvSpPr>
        <p:spPr>
          <a:xfrm>
            <a:off x="200472" y="6239682"/>
            <a:ext cx="8287910" cy="369332"/>
          </a:xfrm>
          <a:prstGeom prst="rect">
            <a:avLst/>
          </a:prstGeom>
          <a:noFill/>
        </p:spPr>
        <p:txBody>
          <a:bodyPr wrap="none" rtlCol="0">
            <a:spAutoFit/>
          </a:bodyPr>
          <a:lstStyle/>
          <a:p>
            <a:r>
              <a:rPr lang="it-IT" dirty="0">
                <a:latin typeface="Times New Roman" panose="02020603050405020304" pitchFamily="18" charset="0"/>
                <a:cs typeface="Times New Roman" panose="02020603050405020304" pitchFamily="18" charset="0"/>
              </a:rPr>
              <a:t>Contro</a:t>
            </a:r>
            <a:r>
              <a:rPr lang="it-IT" dirty="0"/>
              <a:t> </a:t>
            </a:r>
            <a:r>
              <a:rPr lang="it-IT" dirty="0">
                <a:latin typeface="Times New Roman" panose="02020603050405020304" pitchFamily="18" charset="0"/>
                <a:cs typeface="Times New Roman" panose="02020603050405020304" pitchFamily="18" charset="0"/>
              </a:rPr>
              <a:t>un 52.1% e 53.1% di F1-score con </a:t>
            </a:r>
            <a:r>
              <a:rPr lang="it-IT" dirty="0">
                <a:latin typeface="Times New Roman" panose="02020603050405020304" pitchFamily="18" charset="0"/>
                <a:cs typeface="Times New Roman" panose="02020603050405020304" pitchFamily="18" charset="0"/>
                <a:hlinkClick r:id="rId4"/>
              </a:rPr>
              <a:t>20 e 30</a:t>
            </a:r>
            <a:r>
              <a:rPr lang="it-IT" dirty="0">
                <a:latin typeface="Times New Roman" panose="02020603050405020304" pitchFamily="18" charset="0"/>
                <a:cs typeface="Times New Roman" panose="02020603050405020304" pitchFamily="18" charset="0"/>
              </a:rPr>
              <a:t> epoche, Adam, </a:t>
            </a:r>
            <a:r>
              <a:rPr lang="it-IT" dirty="0" err="1">
                <a:latin typeface="Times New Roman" panose="02020603050405020304" pitchFamily="18" charset="0"/>
                <a:cs typeface="Times New Roman" panose="02020603050405020304" pitchFamily="18" charset="0"/>
              </a:rPr>
              <a:t>lr</a:t>
            </a:r>
            <a:r>
              <a:rPr lang="it-IT" dirty="0">
                <a:latin typeface="Times New Roman" panose="02020603050405020304" pitchFamily="18" charset="0"/>
                <a:cs typeface="Times New Roman" panose="02020603050405020304" pitchFamily="18" charset="0"/>
              </a:rPr>
              <a:t>=0.001 e batch=256.</a:t>
            </a:r>
          </a:p>
        </p:txBody>
      </p:sp>
      <p:pic>
        <p:nvPicPr>
          <p:cNvPr id="4" name="Immagine 3">
            <a:extLst>
              <a:ext uri="{FF2B5EF4-FFF2-40B4-BE49-F238E27FC236}">
                <a16:creationId xmlns:a16="http://schemas.microsoft.com/office/drawing/2014/main" id="{65B59926-E317-A34F-B510-1FA3F76023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582973"/>
            <a:ext cx="9906000" cy="1199340"/>
          </a:xfrm>
          <a:prstGeom prst="rect">
            <a:avLst/>
          </a:prstGeom>
        </p:spPr>
      </p:pic>
      <p:pic>
        <p:nvPicPr>
          <p:cNvPr id="9" name="Immagine 8">
            <a:extLst>
              <a:ext uri="{FF2B5EF4-FFF2-40B4-BE49-F238E27FC236}">
                <a16:creationId xmlns:a16="http://schemas.microsoft.com/office/drawing/2014/main" id="{298AE2D1-6D81-8C4B-BA75-BDD18983E1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2840800"/>
            <a:ext cx="9906000" cy="3340395"/>
          </a:xfrm>
          <a:prstGeom prst="rect">
            <a:avLst/>
          </a:prstGeom>
        </p:spPr>
      </p:pic>
    </p:spTree>
    <p:extLst>
      <p:ext uri="{BB962C8B-B14F-4D97-AF65-F5344CB8AC3E}">
        <p14:creationId xmlns:p14="http://schemas.microsoft.com/office/powerpoint/2010/main" val="2253649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Risultati VGG16 (data </a:t>
            </a:r>
            <a:r>
              <a:rPr lang="it-IT" sz="3200" cap="small" dirty="0" err="1">
                <a:latin typeface="Times New Roman" panose="02020603050405020304" pitchFamily="18" charset="0"/>
                <a:ea typeface="+mn-ea"/>
                <a:cs typeface="Times New Roman" panose="02020603050405020304" pitchFamily="18" charset="0"/>
              </a:rPr>
              <a:t>augmentation</a:t>
            </a:r>
            <a:r>
              <a:rPr lang="it-IT" sz="3200" cap="small" dirty="0">
                <a:latin typeface="Times New Roman" panose="02020603050405020304" pitchFamily="18" charset="0"/>
                <a:ea typeface="+mn-ea"/>
                <a:cs typeface="Times New Roman" panose="02020603050405020304" pitchFamily="18" charset="0"/>
              </a:rPr>
              <a:t>)</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180474"/>
            <a:ext cx="2215221" cy="554666"/>
          </a:xfrm>
          <a:prstGeom prst="rect">
            <a:avLst/>
          </a:prstGeom>
        </p:spPr>
      </p:pic>
      <p:sp>
        <p:nvSpPr>
          <p:cNvPr id="3" name="CasellaDiTesto 2">
            <a:extLst>
              <a:ext uri="{FF2B5EF4-FFF2-40B4-BE49-F238E27FC236}">
                <a16:creationId xmlns:a16="http://schemas.microsoft.com/office/drawing/2014/main" id="{F273295E-11C0-1A4C-8171-1AA2206B7DB7}"/>
              </a:ext>
            </a:extLst>
          </p:cNvPr>
          <p:cNvSpPr txBox="1"/>
          <p:nvPr/>
        </p:nvSpPr>
        <p:spPr>
          <a:xfrm>
            <a:off x="387870" y="1582973"/>
            <a:ext cx="9228623" cy="1200329"/>
          </a:xfrm>
          <a:prstGeom prst="rect">
            <a:avLst/>
          </a:prstGeom>
          <a:noFill/>
        </p:spPr>
        <p:txBody>
          <a:bodyPr wrap="square" rtlCol="0">
            <a:spAutoFit/>
          </a:bodyPr>
          <a:lstStyle/>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pPr algn="just"/>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p:txBody>
      </p:sp>
      <p:sp>
        <p:nvSpPr>
          <p:cNvPr id="10" name="CasellaDiTesto 9">
            <a:extLst>
              <a:ext uri="{FF2B5EF4-FFF2-40B4-BE49-F238E27FC236}">
                <a16:creationId xmlns:a16="http://schemas.microsoft.com/office/drawing/2014/main" id="{569373CF-56CF-1140-8405-8493C2959596}"/>
              </a:ext>
            </a:extLst>
          </p:cNvPr>
          <p:cNvSpPr txBox="1"/>
          <p:nvPr/>
        </p:nvSpPr>
        <p:spPr>
          <a:xfrm>
            <a:off x="200472" y="6245765"/>
            <a:ext cx="7236340" cy="369332"/>
          </a:xfrm>
          <a:prstGeom prst="rect">
            <a:avLst/>
          </a:prstGeom>
          <a:noFill/>
        </p:spPr>
        <p:txBody>
          <a:bodyPr wrap="none" rtlCol="0">
            <a:spAutoFit/>
          </a:bodyPr>
          <a:lstStyle/>
          <a:p>
            <a:r>
              <a:rPr lang="it-IT" dirty="0">
                <a:latin typeface="Times New Roman" panose="02020603050405020304" pitchFamily="18" charset="0"/>
                <a:cs typeface="Times New Roman" panose="02020603050405020304" pitchFamily="18" charset="0"/>
              </a:rPr>
              <a:t>Contro</a:t>
            </a:r>
            <a:r>
              <a:rPr lang="it-IT" dirty="0"/>
              <a:t> </a:t>
            </a:r>
            <a:r>
              <a:rPr lang="it-IT" dirty="0">
                <a:latin typeface="Times New Roman" panose="02020603050405020304" pitchFamily="18" charset="0"/>
                <a:cs typeface="Times New Roman" panose="02020603050405020304" pitchFamily="18" charset="0"/>
              </a:rPr>
              <a:t>un 49.8% e 49.09% con </a:t>
            </a:r>
            <a:r>
              <a:rPr lang="it-IT" dirty="0">
                <a:latin typeface="Times New Roman" panose="02020603050405020304" pitchFamily="18" charset="0"/>
                <a:cs typeface="Times New Roman" panose="02020603050405020304" pitchFamily="18" charset="0"/>
                <a:hlinkClick r:id="rId4"/>
              </a:rPr>
              <a:t>20 e 30</a:t>
            </a:r>
            <a:r>
              <a:rPr lang="it-IT" dirty="0">
                <a:latin typeface="Times New Roman" panose="02020603050405020304" pitchFamily="18" charset="0"/>
                <a:cs typeface="Times New Roman" panose="02020603050405020304" pitchFamily="18" charset="0"/>
              </a:rPr>
              <a:t> epoche, Adam, </a:t>
            </a:r>
            <a:r>
              <a:rPr lang="it-IT" dirty="0" err="1">
                <a:latin typeface="Times New Roman" panose="02020603050405020304" pitchFamily="18" charset="0"/>
                <a:cs typeface="Times New Roman" panose="02020603050405020304" pitchFamily="18" charset="0"/>
              </a:rPr>
              <a:t>lr</a:t>
            </a:r>
            <a:r>
              <a:rPr lang="it-IT" dirty="0">
                <a:latin typeface="Times New Roman" panose="02020603050405020304" pitchFamily="18" charset="0"/>
                <a:cs typeface="Times New Roman" panose="02020603050405020304" pitchFamily="18" charset="0"/>
              </a:rPr>
              <a:t>=0.001 e </a:t>
            </a:r>
            <a:r>
              <a:rPr lang="it-IT" dirty="0" err="1">
                <a:latin typeface="Times New Roman" panose="02020603050405020304" pitchFamily="18" charset="0"/>
                <a:cs typeface="Times New Roman" panose="02020603050405020304" pitchFamily="18" charset="0"/>
              </a:rPr>
              <a:t>bach</a:t>
            </a:r>
            <a:r>
              <a:rPr lang="it-IT" dirty="0">
                <a:latin typeface="Times New Roman" panose="02020603050405020304" pitchFamily="18" charset="0"/>
                <a:cs typeface="Times New Roman" panose="02020603050405020304" pitchFamily="18" charset="0"/>
              </a:rPr>
              <a:t>=256.</a:t>
            </a:r>
          </a:p>
        </p:txBody>
      </p:sp>
      <p:pic>
        <p:nvPicPr>
          <p:cNvPr id="8" name="Immagine 7">
            <a:extLst>
              <a:ext uri="{FF2B5EF4-FFF2-40B4-BE49-F238E27FC236}">
                <a16:creationId xmlns:a16="http://schemas.microsoft.com/office/drawing/2014/main" id="{08EB1C7A-EDF8-514F-84B7-3A7F33BF3D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483353"/>
            <a:ext cx="9906000" cy="1233714"/>
          </a:xfrm>
          <a:prstGeom prst="rect">
            <a:avLst/>
          </a:prstGeom>
        </p:spPr>
      </p:pic>
      <p:pic>
        <p:nvPicPr>
          <p:cNvPr id="12" name="Immagine 11">
            <a:extLst>
              <a:ext uri="{FF2B5EF4-FFF2-40B4-BE49-F238E27FC236}">
                <a16:creationId xmlns:a16="http://schemas.microsoft.com/office/drawing/2014/main" id="{10DF2751-3CC2-3845-89BE-CCF955E0BFB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2775846"/>
            <a:ext cx="9906000" cy="3289339"/>
          </a:xfrm>
          <a:prstGeom prst="rect">
            <a:avLst/>
          </a:prstGeom>
        </p:spPr>
      </p:pic>
    </p:spTree>
    <p:extLst>
      <p:ext uri="{BB962C8B-B14F-4D97-AF65-F5344CB8AC3E}">
        <p14:creationId xmlns:p14="http://schemas.microsoft.com/office/powerpoint/2010/main" val="3138770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Risultati VGG19 (no data </a:t>
            </a:r>
            <a:r>
              <a:rPr lang="it-IT" sz="3200" cap="small" dirty="0" err="1">
                <a:latin typeface="Times New Roman" panose="02020603050405020304" pitchFamily="18" charset="0"/>
                <a:ea typeface="+mn-ea"/>
                <a:cs typeface="Times New Roman" panose="02020603050405020304" pitchFamily="18" charset="0"/>
              </a:rPr>
              <a:t>augmentation</a:t>
            </a:r>
            <a:r>
              <a:rPr lang="it-IT" sz="3200" cap="small" dirty="0">
                <a:latin typeface="Times New Roman" panose="02020603050405020304" pitchFamily="18" charset="0"/>
                <a:ea typeface="+mn-ea"/>
                <a:cs typeface="Times New Roman" panose="02020603050405020304" pitchFamily="18" charset="0"/>
              </a:rPr>
              <a:t>)</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150777"/>
            <a:ext cx="2215221" cy="554666"/>
          </a:xfrm>
          <a:prstGeom prst="rect">
            <a:avLst/>
          </a:prstGeom>
        </p:spPr>
      </p:pic>
      <p:sp>
        <p:nvSpPr>
          <p:cNvPr id="10" name="CasellaDiTesto 9">
            <a:extLst>
              <a:ext uri="{FF2B5EF4-FFF2-40B4-BE49-F238E27FC236}">
                <a16:creationId xmlns:a16="http://schemas.microsoft.com/office/drawing/2014/main" id="{C53FF1DA-0C9A-BE48-A88B-5FC160949CE5}"/>
              </a:ext>
            </a:extLst>
          </p:cNvPr>
          <p:cNvSpPr txBox="1"/>
          <p:nvPr/>
        </p:nvSpPr>
        <p:spPr>
          <a:xfrm>
            <a:off x="272480" y="6166607"/>
            <a:ext cx="8287910" cy="369332"/>
          </a:xfrm>
          <a:prstGeom prst="rect">
            <a:avLst/>
          </a:prstGeom>
          <a:noFill/>
        </p:spPr>
        <p:txBody>
          <a:bodyPr wrap="none" rtlCol="0">
            <a:spAutoFit/>
          </a:bodyPr>
          <a:lstStyle/>
          <a:p>
            <a:r>
              <a:rPr lang="it-IT" dirty="0">
                <a:latin typeface="Times New Roman" panose="02020603050405020304" pitchFamily="18" charset="0"/>
                <a:cs typeface="Times New Roman" panose="02020603050405020304" pitchFamily="18" charset="0"/>
              </a:rPr>
              <a:t>Contro</a:t>
            </a:r>
            <a:r>
              <a:rPr lang="it-IT" dirty="0"/>
              <a:t> </a:t>
            </a:r>
            <a:r>
              <a:rPr lang="it-IT" dirty="0">
                <a:latin typeface="Times New Roman" panose="02020603050405020304" pitchFamily="18" charset="0"/>
                <a:cs typeface="Times New Roman" panose="02020603050405020304" pitchFamily="18" charset="0"/>
              </a:rPr>
              <a:t>un 49.4% e 47.7% di F1-score con </a:t>
            </a:r>
            <a:r>
              <a:rPr lang="it-IT" dirty="0">
                <a:latin typeface="Times New Roman" panose="02020603050405020304" pitchFamily="18" charset="0"/>
                <a:cs typeface="Times New Roman" panose="02020603050405020304" pitchFamily="18" charset="0"/>
                <a:hlinkClick r:id="rId4"/>
              </a:rPr>
              <a:t>20 e 30</a:t>
            </a:r>
            <a:r>
              <a:rPr lang="it-IT" dirty="0">
                <a:latin typeface="Times New Roman" panose="02020603050405020304" pitchFamily="18" charset="0"/>
                <a:cs typeface="Times New Roman" panose="02020603050405020304" pitchFamily="18" charset="0"/>
              </a:rPr>
              <a:t> epoche, Adam, </a:t>
            </a:r>
            <a:r>
              <a:rPr lang="it-IT" dirty="0" err="1">
                <a:latin typeface="Times New Roman" panose="02020603050405020304" pitchFamily="18" charset="0"/>
                <a:cs typeface="Times New Roman" panose="02020603050405020304" pitchFamily="18" charset="0"/>
              </a:rPr>
              <a:t>lr</a:t>
            </a:r>
            <a:r>
              <a:rPr lang="it-IT" dirty="0">
                <a:latin typeface="Times New Roman" panose="02020603050405020304" pitchFamily="18" charset="0"/>
                <a:cs typeface="Times New Roman" panose="02020603050405020304" pitchFamily="18" charset="0"/>
              </a:rPr>
              <a:t>=0.001 e batch=256.</a:t>
            </a:r>
          </a:p>
        </p:txBody>
      </p:sp>
      <p:pic>
        <p:nvPicPr>
          <p:cNvPr id="4" name="Immagine 3">
            <a:extLst>
              <a:ext uri="{FF2B5EF4-FFF2-40B4-BE49-F238E27FC236}">
                <a16:creationId xmlns:a16="http://schemas.microsoft.com/office/drawing/2014/main" id="{1F77CFD8-2FAB-E748-87B5-77938E0B008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582973"/>
            <a:ext cx="9906000" cy="1214106"/>
          </a:xfrm>
          <a:prstGeom prst="rect">
            <a:avLst/>
          </a:prstGeom>
        </p:spPr>
      </p:pic>
      <p:pic>
        <p:nvPicPr>
          <p:cNvPr id="11" name="Immagine 10">
            <a:extLst>
              <a:ext uri="{FF2B5EF4-FFF2-40B4-BE49-F238E27FC236}">
                <a16:creationId xmlns:a16="http://schemas.microsoft.com/office/drawing/2014/main" id="{B02547CF-0D81-5F42-BF7E-5EF2C20E94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2857411"/>
            <a:ext cx="9906000" cy="3248864"/>
          </a:xfrm>
          <a:prstGeom prst="rect">
            <a:avLst/>
          </a:prstGeom>
        </p:spPr>
      </p:pic>
    </p:spTree>
    <p:extLst>
      <p:ext uri="{BB962C8B-B14F-4D97-AF65-F5344CB8AC3E}">
        <p14:creationId xmlns:p14="http://schemas.microsoft.com/office/powerpoint/2010/main" val="453118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Risultati VGG19 (data </a:t>
            </a:r>
            <a:r>
              <a:rPr lang="it-IT" sz="3200" cap="small" dirty="0" err="1">
                <a:latin typeface="Times New Roman" panose="02020603050405020304" pitchFamily="18" charset="0"/>
                <a:ea typeface="+mn-ea"/>
                <a:cs typeface="Times New Roman" panose="02020603050405020304" pitchFamily="18" charset="0"/>
              </a:rPr>
              <a:t>augmentation</a:t>
            </a:r>
            <a:r>
              <a:rPr lang="it-IT" sz="3200" cap="small" dirty="0">
                <a:latin typeface="Times New Roman" panose="02020603050405020304" pitchFamily="18" charset="0"/>
                <a:ea typeface="+mn-ea"/>
                <a:cs typeface="Times New Roman" panose="02020603050405020304" pitchFamily="18" charset="0"/>
              </a:rPr>
              <a:t>)</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150777"/>
            <a:ext cx="2215221" cy="554666"/>
          </a:xfrm>
          <a:prstGeom prst="rect">
            <a:avLst/>
          </a:prstGeom>
        </p:spPr>
      </p:pic>
      <p:sp>
        <p:nvSpPr>
          <p:cNvPr id="9" name="CasellaDiTesto 8">
            <a:extLst>
              <a:ext uri="{FF2B5EF4-FFF2-40B4-BE49-F238E27FC236}">
                <a16:creationId xmlns:a16="http://schemas.microsoft.com/office/drawing/2014/main" id="{78EA6F15-2664-5245-9438-9789615C1F75}"/>
              </a:ext>
            </a:extLst>
          </p:cNvPr>
          <p:cNvSpPr txBox="1"/>
          <p:nvPr/>
        </p:nvSpPr>
        <p:spPr>
          <a:xfrm>
            <a:off x="272480" y="6112318"/>
            <a:ext cx="8287910" cy="369332"/>
          </a:xfrm>
          <a:prstGeom prst="rect">
            <a:avLst/>
          </a:prstGeom>
          <a:noFill/>
        </p:spPr>
        <p:txBody>
          <a:bodyPr wrap="none" rtlCol="0">
            <a:spAutoFit/>
          </a:bodyPr>
          <a:lstStyle/>
          <a:p>
            <a:r>
              <a:rPr lang="it-IT" dirty="0">
                <a:latin typeface="Times New Roman" panose="02020603050405020304" pitchFamily="18" charset="0"/>
                <a:cs typeface="Times New Roman" panose="02020603050405020304" pitchFamily="18" charset="0"/>
              </a:rPr>
              <a:t>Contro</a:t>
            </a:r>
            <a:r>
              <a:rPr lang="it-IT" dirty="0"/>
              <a:t> </a:t>
            </a:r>
            <a:r>
              <a:rPr lang="it-IT" dirty="0">
                <a:latin typeface="Times New Roman" panose="02020603050405020304" pitchFamily="18" charset="0"/>
                <a:cs typeface="Times New Roman" panose="02020603050405020304" pitchFamily="18" charset="0"/>
              </a:rPr>
              <a:t>un 47.4% e 49.4% di F1-score con </a:t>
            </a:r>
            <a:r>
              <a:rPr lang="it-IT" dirty="0">
                <a:latin typeface="Times New Roman" panose="02020603050405020304" pitchFamily="18" charset="0"/>
                <a:cs typeface="Times New Roman" panose="02020603050405020304" pitchFamily="18" charset="0"/>
                <a:hlinkClick r:id="rId4"/>
              </a:rPr>
              <a:t>20 e 30</a:t>
            </a:r>
            <a:r>
              <a:rPr lang="it-IT" dirty="0">
                <a:latin typeface="Times New Roman" panose="02020603050405020304" pitchFamily="18" charset="0"/>
                <a:cs typeface="Times New Roman" panose="02020603050405020304" pitchFamily="18" charset="0"/>
              </a:rPr>
              <a:t> epoche, Adam, </a:t>
            </a:r>
            <a:r>
              <a:rPr lang="it-IT" dirty="0" err="1">
                <a:latin typeface="Times New Roman" panose="02020603050405020304" pitchFamily="18" charset="0"/>
                <a:cs typeface="Times New Roman" panose="02020603050405020304" pitchFamily="18" charset="0"/>
              </a:rPr>
              <a:t>lr</a:t>
            </a:r>
            <a:r>
              <a:rPr lang="it-IT" dirty="0">
                <a:latin typeface="Times New Roman" panose="02020603050405020304" pitchFamily="18" charset="0"/>
                <a:cs typeface="Times New Roman" panose="02020603050405020304" pitchFamily="18" charset="0"/>
              </a:rPr>
              <a:t>=0.001 e batch=256.</a:t>
            </a:r>
          </a:p>
        </p:txBody>
      </p:sp>
      <p:pic>
        <p:nvPicPr>
          <p:cNvPr id="5" name="Immagine 4">
            <a:extLst>
              <a:ext uri="{FF2B5EF4-FFF2-40B4-BE49-F238E27FC236}">
                <a16:creationId xmlns:a16="http://schemas.microsoft.com/office/drawing/2014/main" id="{CFD1C12F-2BDD-D044-967E-B972BD70BE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608921"/>
            <a:ext cx="9906000" cy="1255432"/>
          </a:xfrm>
          <a:prstGeom prst="rect">
            <a:avLst/>
          </a:prstGeom>
        </p:spPr>
      </p:pic>
      <p:pic>
        <p:nvPicPr>
          <p:cNvPr id="11" name="Immagine 10">
            <a:extLst>
              <a:ext uri="{FF2B5EF4-FFF2-40B4-BE49-F238E27FC236}">
                <a16:creationId xmlns:a16="http://schemas.microsoft.com/office/drawing/2014/main" id="{9DDD5D0E-F4EC-4141-BFBA-D4CC65E4FC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2881381"/>
            <a:ext cx="9906000" cy="3312082"/>
          </a:xfrm>
          <a:prstGeom prst="rect">
            <a:avLst/>
          </a:prstGeom>
        </p:spPr>
      </p:pic>
    </p:spTree>
    <p:extLst>
      <p:ext uri="{BB962C8B-B14F-4D97-AF65-F5344CB8AC3E}">
        <p14:creationId xmlns:p14="http://schemas.microsoft.com/office/powerpoint/2010/main" val="429339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Risultati ResNet50V2 (no data </a:t>
            </a:r>
            <a:r>
              <a:rPr lang="it-IT" sz="3200" cap="small" dirty="0" err="1">
                <a:latin typeface="Times New Roman" panose="02020603050405020304" pitchFamily="18" charset="0"/>
                <a:ea typeface="+mn-ea"/>
                <a:cs typeface="Times New Roman" panose="02020603050405020304" pitchFamily="18" charset="0"/>
              </a:rPr>
              <a:t>augmentation</a:t>
            </a:r>
            <a:r>
              <a:rPr lang="it-IT" sz="3200" cap="small" dirty="0">
                <a:latin typeface="Times New Roman" panose="02020603050405020304" pitchFamily="18" charset="0"/>
                <a:ea typeface="+mn-ea"/>
                <a:cs typeface="Times New Roman" panose="02020603050405020304" pitchFamily="18" charset="0"/>
              </a:rPr>
              <a:t>)</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1355" y="179733"/>
            <a:ext cx="2215221" cy="554666"/>
          </a:xfrm>
          <a:prstGeom prst="rect">
            <a:avLst/>
          </a:prstGeom>
        </p:spPr>
      </p:pic>
      <p:sp>
        <p:nvSpPr>
          <p:cNvPr id="9" name="CasellaDiTesto 8">
            <a:extLst>
              <a:ext uri="{FF2B5EF4-FFF2-40B4-BE49-F238E27FC236}">
                <a16:creationId xmlns:a16="http://schemas.microsoft.com/office/drawing/2014/main" id="{507E2102-B63A-5942-91E4-737E2DC8FAAC}"/>
              </a:ext>
            </a:extLst>
          </p:cNvPr>
          <p:cNvSpPr txBox="1"/>
          <p:nvPr/>
        </p:nvSpPr>
        <p:spPr>
          <a:xfrm>
            <a:off x="118538" y="6162366"/>
            <a:ext cx="9777536" cy="646331"/>
          </a:xfrm>
          <a:prstGeom prst="rect">
            <a:avLst/>
          </a:prstGeom>
          <a:noFill/>
        </p:spPr>
        <p:txBody>
          <a:bodyPr wrap="square" rtlCol="0">
            <a:spAutoFit/>
          </a:bodyPr>
          <a:lstStyle/>
          <a:p>
            <a:r>
              <a:rPr lang="it-IT" dirty="0">
                <a:latin typeface="Times New Roman" panose="02020603050405020304" pitchFamily="18" charset="0"/>
                <a:cs typeface="Times New Roman" panose="02020603050405020304" pitchFamily="18" charset="0"/>
              </a:rPr>
              <a:t>Contro</a:t>
            </a:r>
            <a:r>
              <a:rPr lang="it-IT" dirty="0"/>
              <a:t> </a:t>
            </a:r>
            <a:r>
              <a:rPr lang="it-IT" dirty="0">
                <a:latin typeface="Times New Roman" panose="02020603050405020304" pitchFamily="18" charset="0"/>
                <a:cs typeface="Times New Roman" panose="02020603050405020304" pitchFamily="18" charset="0"/>
              </a:rPr>
              <a:t>un 35.4% e 36.2% di F1-score con </a:t>
            </a:r>
            <a:r>
              <a:rPr lang="it-IT" dirty="0">
                <a:latin typeface="Times New Roman" panose="02020603050405020304" pitchFamily="18" charset="0"/>
                <a:cs typeface="Times New Roman" panose="02020603050405020304" pitchFamily="18" charset="0"/>
                <a:hlinkClick r:id="rId4"/>
              </a:rPr>
              <a:t>20 e 30</a:t>
            </a:r>
            <a:r>
              <a:rPr lang="it-IT" dirty="0">
                <a:latin typeface="Times New Roman" panose="02020603050405020304" pitchFamily="18" charset="0"/>
                <a:cs typeface="Times New Roman" panose="02020603050405020304" pitchFamily="18" charset="0"/>
              </a:rPr>
              <a:t> epoche, Adam, </a:t>
            </a:r>
            <a:r>
              <a:rPr lang="it-IT" dirty="0" err="1">
                <a:latin typeface="Times New Roman" panose="02020603050405020304" pitchFamily="18" charset="0"/>
                <a:cs typeface="Times New Roman" panose="02020603050405020304" pitchFamily="18" charset="0"/>
              </a:rPr>
              <a:t>lr</a:t>
            </a:r>
            <a:r>
              <a:rPr lang="it-IT" dirty="0">
                <a:latin typeface="Times New Roman" panose="02020603050405020304" pitchFamily="18" charset="0"/>
                <a:cs typeface="Times New Roman" panose="02020603050405020304" pitchFamily="18" charset="0"/>
              </a:rPr>
              <a:t>=0.001 e batch=256 e diversa architettura.</a:t>
            </a:r>
          </a:p>
        </p:txBody>
      </p:sp>
      <p:pic>
        <p:nvPicPr>
          <p:cNvPr id="5" name="Immagine 4">
            <a:extLst>
              <a:ext uri="{FF2B5EF4-FFF2-40B4-BE49-F238E27FC236}">
                <a16:creationId xmlns:a16="http://schemas.microsoft.com/office/drawing/2014/main" id="{8BB5D905-A871-FB46-9B55-6C94A219CC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748437"/>
            <a:ext cx="9906000" cy="1001648"/>
          </a:xfrm>
          <a:prstGeom prst="rect">
            <a:avLst/>
          </a:prstGeom>
        </p:spPr>
      </p:pic>
      <p:pic>
        <p:nvPicPr>
          <p:cNvPr id="11" name="Immagine 10">
            <a:extLst>
              <a:ext uri="{FF2B5EF4-FFF2-40B4-BE49-F238E27FC236}">
                <a16:creationId xmlns:a16="http://schemas.microsoft.com/office/drawing/2014/main" id="{EBE6EBF2-7832-B941-B792-DFE1FC0CE0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2840046"/>
            <a:ext cx="9906000" cy="3322320"/>
          </a:xfrm>
          <a:prstGeom prst="rect">
            <a:avLst/>
          </a:prstGeom>
        </p:spPr>
      </p:pic>
    </p:spTree>
    <p:extLst>
      <p:ext uri="{BB962C8B-B14F-4D97-AF65-F5344CB8AC3E}">
        <p14:creationId xmlns:p14="http://schemas.microsoft.com/office/powerpoint/2010/main" val="2314606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Risultati ResNet50V2 (data </a:t>
            </a:r>
            <a:r>
              <a:rPr lang="it-IT" sz="3200" cap="small" dirty="0" err="1">
                <a:latin typeface="Times New Roman" panose="02020603050405020304" pitchFamily="18" charset="0"/>
                <a:ea typeface="+mn-ea"/>
                <a:cs typeface="Times New Roman" panose="02020603050405020304" pitchFamily="18" charset="0"/>
              </a:rPr>
              <a:t>augmentation</a:t>
            </a:r>
            <a:r>
              <a:rPr lang="it-IT" sz="3200" cap="small" dirty="0">
                <a:latin typeface="Times New Roman" panose="02020603050405020304" pitchFamily="18" charset="0"/>
                <a:ea typeface="+mn-ea"/>
                <a:cs typeface="Times New Roman" panose="02020603050405020304" pitchFamily="18" charset="0"/>
              </a:rPr>
              <a:t>)</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206588"/>
            <a:ext cx="2215221" cy="554666"/>
          </a:xfrm>
          <a:prstGeom prst="rect">
            <a:avLst/>
          </a:prstGeom>
        </p:spPr>
      </p:pic>
      <p:sp>
        <p:nvSpPr>
          <p:cNvPr id="11" name="CasellaDiTesto 10">
            <a:extLst>
              <a:ext uri="{FF2B5EF4-FFF2-40B4-BE49-F238E27FC236}">
                <a16:creationId xmlns:a16="http://schemas.microsoft.com/office/drawing/2014/main" id="{C4FED251-0E2E-F648-8781-007690706440}"/>
              </a:ext>
            </a:extLst>
          </p:cNvPr>
          <p:cNvSpPr txBox="1"/>
          <p:nvPr/>
        </p:nvSpPr>
        <p:spPr>
          <a:xfrm>
            <a:off x="200472" y="6093296"/>
            <a:ext cx="9505056" cy="646331"/>
          </a:xfrm>
          <a:prstGeom prst="rect">
            <a:avLst/>
          </a:prstGeom>
          <a:noFill/>
        </p:spPr>
        <p:txBody>
          <a:bodyPr wrap="square" rtlCol="0">
            <a:spAutoFit/>
          </a:bodyPr>
          <a:lstStyle/>
          <a:p>
            <a:r>
              <a:rPr lang="it-IT" dirty="0">
                <a:latin typeface="Times New Roman" panose="02020603050405020304" pitchFamily="18" charset="0"/>
                <a:cs typeface="Times New Roman" panose="02020603050405020304" pitchFamily="18" charset="0"/>
              </a:rPr>
              <a:t>Contro</a:t>
            </a:r>
            <a:r>
              <a:rPr lang="it-IT" dirty="0"/>
              <a:t> </a:t>
            </a:r>
            <a:r>
              <a:rPr lang="it-IT" dirty="0">
                <a:latin typeface="Times New Roman" panose="02020603050405020304" pitchFamily="18" charset="0"/>
                <a:cs typeface="Times New Roman" panose="02020603050405020304" pitchFamily="18" charset="0"/>
              </a:rPr>
              <a:t>un 34.30% e 34.39% di F1-score con </a:t>
            </a:r>
            <a:r>
              <a:rPr lang="it-IT" dirty="0">
                <a:latin typeface="Times New Roman" panose="02020603050405020304" pitchFamily="18" charset="0"/>
                <a:cs typeface="Times New Roman" panose="02020603050405020304" pitchFamily="18" charset="0"/>
                <a:hlinkClick r:id="rId4"/>
              </a:rPr>
              <a:t>20 e 30</a:t>
            </a:r>
            <a:r>
              <a:rPr lang="it-IT" dirty="0">
                <a:latin typeface="Times New Roman" panose="02020603050405020304" pitchFamily="18" charset="0"/>
                <a:cs typeface="Times New Roman" panose="02020603050405020304" pitchFamily="18" charset="0"/>
              </a:rPr>
              <a:t> epoche, Adam, </a:t>
            </a:r>
            <a:r>
              <a:rPr lang="it-IT" dirty="0" err="1">
                <a:latin typeface="Times New Roman" panose="02020603050405020304" pitchFamily="18" charset="0"/>
                <a:cs typeface="Times New Roman" panose="02020603050405020304" pitchFamily="18" charset="0"/>
              </a:rPr>
              <a:t>lr</a:t>
            </a:r>
            <a:r>
              <a:rPr lang="it-IT" dirty="0">
                <a:latin typeface="Times New Roman" panose="02020603050405020304" pitchFamily="18" charset="0"/>
                <a:cs typeface="Times New Roman" panose="02020603050405020304" pitchFamily="18" charset="0"/>
              </a:rPr>
              <a:t>=0.001 e batch=256 e diversa architettura.</a:t>
            </a:r>
          </a:p>
        </p:txBody>
      </p:sp>
      <p:pic>
        <p:nvPicPr>
          <p:cNvPr id="10" name="Immagine 9">
            <a:extLst>
              <a:ext uri="{FF2B5EF4-FFF2-40B4-BE49-F238E27FC236}">
                <a16:creationId xmlns:a16="http://schemas.microsoft.com/office/drawing/2014/main" id="{4AE2DDB7-9769-884A-B191-6950A91B3D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573388"/>
            <a:ext cx="9906000" cy="962018"/>
          </a:xfrm>
          <a:prstGeom prst="rect">
            <a:avLst/>
          </a:prstGeom>
        </p:spPr>
      </p:pic>
      <p:pic>
        <p:nvPicPr>
          <p:cNvPr id="13" name="Immagine 12">
            <a:extLst>
              <a:ext uri="{FF2B5EF4-FFF2-40B4-BE49-F238E27FC236}">
                <a16:creationId xmlns:a16="http://schemas.microsoft.com/office/drawing/2014/main" id="{697DC089-218C-7947-9107-8C5E18F9A87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2664331"/>
            <a:ext cx="9906000" cy="3309626"/>
          </a:xfrm>
          <a:prstGeom prst="rect">
            <a:avLst/>
          </a:prstGeom>
        </p:spPr>
      </p:pic>
    </p:spTree>
    <p:extLst>
      <p:ext uri="{BB962C8B-B14F-4D97-AF65-F5344CB8AC3E}">
        <p14:creationId xmlns:p14="http://schemas.microsoft.com/office/powerpoint/2010/main" val="2141505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Risultati InceptionV3 (no data </a:t>
            </a:r>
            <a:r>
              <a:rPr lang="it-IT" sz="3200" cap="small" dirty="0" err="1">
                <a:latin typeface="Times New Roman" panose="02020603050405020304" pitchFamily="18" charset="0"/>
                <a:ea typeface="+mn-ea"/>
                <a:cs typeface="Times New Roman" panose="02020603050405020304" pitchFamily="18" charset="0"/>
              </a:rPr>
              <a:t>augmentation</a:t>
            </a:r>
            <a:r>
              <a:rPr lang="it-IT" sz="3200" cap="small" dirty="0">
                <a:latin typeface="Times New Roman" panose="02020603050405020304" pitchFamily="18" charset="0"/>
                <a:ea typeface="+mn-ea"/>
                <a:cs typeface="Times New Roman" panose="02020603050405020304" pitchFamily="18" charset="0"/>
              </a:rPr>
              <a:t>)</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183716"/>
            <a:ext cx="2215221" cy="554666"/>
          </a:xfrm>
          <a:prstGeom prst="rect">
            <a:avLst/>
          </a:prstGeom>
        </p:spPr>
      </p:pic>
      <p:sp>
        <p:nvSpPr>
          <p:cNvPr id="12" name="CasellaDiTesto 11">
            <a:extLst>
              <a:ext uri="{FF2B5EF4-FFF2-40B4-BE49-F238E27FC236}">
                <a16:creationId xmlns:a16="http://schemas.microsoft.com/office/drawing/2014/main" id="{5F4E980C-4B7A-F947-BD2A-C3EDCFAB286E}"/>
              </a:ext>
            </a:extLst>
          </p:cNvPr>
          <p:cNvSpPr txBox="1"/>
          <p:nvPr/>
        </p:nvSpPr>
        <p:spPr>
          <a:xfrm>
            <a:off x="39429" y="6093296"/>
            <a:ext cx="9577064" cy="646331"/>
          </a:xfrm>
          <a:prstGeom prst="rect">
            <a:avLst/>
          </a:prstGeom>
          <a:noFill/>
        </p:spPr>
        <p:txBody>
          <a:bodyPr wrap="square" rtlCol="0">
            <a:spAutoFit/>
          </a:bodyPr>
          <a:lstStyle/>
          <a:p>
            <a:r>
              <a:rPr lang="it-IT" dirty="0">
                <a:latin typeface="Times New Roman" panose="02020603050405020304" pitchFamily="18" charset="0"/>
                <a:cs typeface="Times New Roman" panose="02020603050405020304" pitchFamily="18" charset="0"/>
              </a:rPr>
              <a:t>Contro</a:t>
            </a:r>
            <a:r>
              <a:rPr lang="it-IT" dirty="0"/>
              <a:t> </a:t>
            </a:r>
            <a:r>
              <a:rPr lang="it-IT" dirty="0">
                <a:latin typeface="Times New Roman" panose="02020603050405020304" pitchFamily="18" charset="0"/>
                <a:cs typeface="Times New Roman" panose="02020603050405020304" pitchFamily="18" charset="0"/>
              </a:rPr>
              <a:t>un 54.3% e 54.5% di F1-score con </a:t>
            </a:r>
            <a:r>
              <a:rPr lang="it-IT" dirty="0">
                <a:latin typeface="Times New Roman" panose="02020603050405020304" pitchFamily="18" charset="0"/>
                <a:cs typeface="Times New Roman" panose="02020603050405020304" pitchFamily="18" charset="0"/>
                <a:hlinkClick r:id="rId4"/>
              </a:rPr>
              <a:t>20 e 30</a:t>
            </a:r>
            <a:r>
              <a:rPr lang="it-IT" dirty="0">
                <a:latin typeface="Times New Roman" panose="02020603050405020304" pitchFamily="18" charset="0"/>
                <a:cs typeface="Times New Roman" panose="02020603050405020304" pitchFamily="18" charset="0"/>
              </a:rPr>
              <a:t> epoche, Adam, </a:t>
            </a:r>
            <a:r>
              <a:rPr lang="it-IT" dirty="0" err="1">
                <a:latin typeface="Times New Roman" panose="02020603050405020304" pitchFamily="18" charset="0"/>
                <a:cs typeface="Times New Roman" panose="02020603050405020304" pitchFamily="18" charset="0"/>
              </a:rPr>
              <a:t>lr</a:t>
            </a:r>
            <a:r>
              <a:rPr lang="it-IT" dirty="0">
                <a:latin typeface="Times New Roman" panose="02020603050405020304" pitchFamily="18" charset="0"/>
                <a:cs typeface="Times New Roman" panose="02020603050405020304" pitchFamily="18" charset="0"/>
              </a:rPr>
              <a:t>=0.001 e batch=256. </a:t>
            </a:r>
          </a:p>
          <a:p>
            <a:r>
              <a:rPr lang="it-IT" dirty="0">
                <a:latin typeface="Times New Roman" panose="02020603050405020304" pitchFamily="18" charset="0"/>
                <a:cs typeface="Times New Roman" panose="02020603050405020304" pitchFamily="18" charset="0"/>
              </a:rPr>
              <a:t>Non siamo riusciti a trovare l’architettura corretta </a:t>
            </a:r>
            <a:r>
              <a:rPr lang="it-IT">
                <a:latin typeface="Times New Roman" panose="02020603050405020304" pitchFamily="18" charset="0"/>
                <a:cs typeface="Times New Roman" panose="02020603050405020304" pitchFamily="18" charset="0"/>
              </a:rPr>
              <a:t>per l’InceptionV3.</a:t>
            </a:r>
            <a:endParaRPr lang="it-IT" dirty="0">
              <a:latin typeface="Times New Roman" panose="02020603050405020304" pitchFamily="18" charset="0"/>
              <a:cs typeface="Times New Roman" panose="02020603050405020304" pitchFamily="18" charset="0"/>
            </a:endParaRPr>
          </a:p>
        </p:txBody>
      </p:sp>
      <p:pic>
        <p:nvPicPr>
          <p:cNvPr id="13" name="Immagine 12">
            <a:extLst>
              <a:ext uri="{FF2B5EF4-FFF2-40B4-BE49-F238E27FC236}">
                <a16:creationId xmlns:a16="http://schemas.microsoft.com/office/drawing/2014/main" id="{E916DA95-1BD7-5947-9ECD-5448DBCD4B2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750292"/>
            <a:ext cx="9906000" cy="997938"/>
          </a:xfrm>
          <a:prstGeom prst="rect">
            <a:avLst/>
          </a:prstGeom>
        </p:spPr>
      </p:pic>
      <p:pic>
        <p:nvPicPr>
          <p:cNvPr id="15" name="Immagine 14">
            <a:extLst>
              <a:ext uri="{FF2B5EF4-FFF2-40B4-BE49-F238E27FC236}">
                <a16:creationId xmlns:a16="http://schemas.microsoft.com/office/drawing/2014/main" id="{95676EFD-9FBC-D649-AD3B-6EEE0782A40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35" y="2857856"/>
            <a:ext cx="9906000" cy="3332716"/>
          </a:xfrm>
          <a:prstGeom prst="rect">
            <a:avLst/>
          </a:prstGeom>
        </p:spPr>
      </p:pic>
    </p:spTree>
    <p:extLst>
      <p:ext uri="{BB962C8B-B14F-4D97-AF65-F5344CB8AC3E}">
        <p14:creationId xmlns:p14="http://schemas.microsoft.com/office/powerpoint/2010/main" val="813989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797256" y="817065"/>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Risultati InceptionV3 (data </a:t>
            </a:r>
            <a:r>
              <a:rPr lang="it-IT" sz="3200" cap="small" dirty="0" err="1">
                <a:latin typeface="Times New Roman" panose="02020603050405020304" pitchFamily="18" charset="0"/>
                <a:ea typeface="+mn-ea"/>
                <a:cs typeface="Times New Roman" panose="02020603050405020304" pitchFamily="18" charset="0"/>
              </a:rPr>
              <a:t>augmentation</a:t>
            </a:r>
            <a:r>
              <a:rPr lang="it-IT" sz="3200" cap="small" dirty="0">
                <a:latin typeface="Times New Roman" panose="02020603050405020304" pitchFamily="18" charset="0"/>
                <a:ea typeface="+mn-ea"/>
                <a:cs typeface="Times New Roman" panose="02020603050405020304" pitchFamily="18" charset="0"/>
              </a:rPr>
              <a:t>)</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171860"/>
            <a:ext cx="2215221" cy="554666"/>
          </a:xfrm>
          <a:prstGeom prst="rect">
            <a:avLst/>
          </a:prstGeom>
        </p:spPr>
      </p:pic>
      <p:pic>
        <p:nvPicPr>
          <p:cNvPr id="4" name="Immagine 3">
            <a:extLst>
              <a:ext uri="{FF2B5EF4-FFF2-40B4-BE49-F238E27FC236}">
                <a16:creationId xmlns:a16="http://schemas.microsoft.com/office/drawing/2014/main" id="{472F9DE2-559F-644B-A08B-7400102038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487582"/>
            <a:ext cx="9906000" cy="1261323"/>
          </a:xfrm>
          <a:prstGeom prst="rect">
            <a:avLst/>
          </a:prstGeom>
        </p:spPr>
      </p:pic>
      <p:sp>
        <p:nvSpPr>
          <p:cNvPr id="10" name="CasellaDiTesto 9">
            <a:extLst>
              <a:ext uri="{FF2B5EF4-FFF2-40B4-BE49-F238E27FC236}">
                <a16:creationId xmlns:a16="http://schemas.microsoft.com/office/drawing/2014/main" id="{706A35AB-F655-BA4E-B46D-2254577E6A60}"/>
              </a:ext>
            </a:extLst>
          </p:cNvPr>
          <p:cNvSpPr txBox="1"/>
          <p:nvPr/>
        </p:nvSpPr>
        <p:spPr>
          <a:xfrm>
            <a:off x="198939" y="6077767"/>
            <a:ext cx="8172494" cy="369332"/>
          </a:xfrm>
          <a:prstGeom prst="rect">
            <a:avLst/>
          </a:prstGeom>
          <a:noFill/>
        </p:spPr>
        <p:txBody>
          <a:bodyPr wrap="none" rtlCol="0">
            <a:spAutoFit/>
          </a:bodyPr>
          <a:lstStyle/>
          <a:p>
            <a:r>
              <a:rPr lang="it-IT" dirty="0">
                <a:latin typeface="Times New Roman" panose="02020603050405020304" pitchFamily="18" charset="0"/>
                <a:cs typeface="Times New Roman" panose="02020603050405020304" pitchFamily="18" charset="0"/>
              </a:rPr>
              <a:t>Contro</a:t>
            </a:r>
            <a:r>
              <a:rPr lang="it-IT" dirty="0"/>
              <a:t> </a:t>
            </a:r>
            <a:r>
              <a:rPr lang="it-IT" dirty="0">
                <a:latin typeface="Times New Roman" panose="02020603050405020304" pitchFamily="18" charset="0"/>
                <a:cs typeface="Times New Roman" panose="02020603050405020304" pitchFamily="18" charset="0"/>
              </a:rPr>
              <a:t>un 54% e 53.9% di F1-score con </a:t>
            </a:r>
            <a:r>
              <a:rPr lang="it-IT" dirty="0">
                <a:latin typeface="Times New Roman" panose="02020603050405020304" pitchFamily="18" charset="0"/>
                <a:cs typeface="Times New Roman" panose="02020603050405020304" pitchFamily="18" charset="0"/>
                <a:hlinkClick r:id="rId5"/>
              </a:rPr>
              <a:t>20 e 30</a:t>
            </a:r>
            <a:r>
              <a:rPr lang="it-IT" dirty="0">
                <a:latin typeface="Times New Roman" panose="02020603050405020304" pitchFamily="18" charset="0"/>
                <a:cs typeface="Times New Roman" panose="02020603050405020304" pitchFamily="18" charset="0"/>
              </a:rPr>
              <a:t> epoche, Adam, </a:t>
            </a:r>
            <a:r>
              <a:rPr lang="it-IT" dirty="0" err="1">
                <a:latin typeface="Times New Roman" panose="02020603050405020304" pitchFamily="18" charset="0"/>
                <a:cs typeface="Times New Roman" panose="02020603050405020304" pitchFamily="18" charset="0"/>
              </a:rPr>
              <a:t>lr</a:t>
            </a:r>
            <a:r>
              <a:rPr lang="it-IT" dirty="0">
                <a:latin typeface="Times New Roman" panose="02020603050405020304" pitchFamily="18" charset="0"/>
                <a:cs typeface="Times New Roman" panose="02020603050405020304" pitchFamily="18" charset="0"/>
              </a:rPr>
              <a:t>=0.001 e batch=256.</a:t>
            </a:r>
          </a:p>
        </p:txBody>
      </p:sp>
      <p:pic>
        <p:nvPicPr>
          <p:cNvPr id="5" name="Immagine 4">
            <a:extLst>
              <a:ext uri="{FF2B5EF4-FFF2-40B4-BE49-F238E27FC236}">
                <a16:creationId xmlns:a16="http://schemas.microsoft.com/office/drawing/2014/main" id="{30E65A92-32C6-E944-8881-CE0A78157CF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25" y="2746978"/>
            <a:ext cx="9906000" cy="3332716"/>
          </a:xfrm>
          <a:prstGeom prst="rect">
            <a:avLst/>
          </a:prstGeom>
        </p:spPr>
      </p:pic>
    </p:spTree>
    <p:extLst>
      <p:ext uri="{BB962C8B-B14F-4D97-AF65-F5344CB8AC3E}">
        <p14:creationId xmlns:p14="http://schemas.microsoft.com/office/powerpoint/2010/main" val="3417004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EE1E421-508D-C54F-AF80-42F20981AE3F}"/>
              </a:ext>
            </a:extLst>
          </p:cNvPr>
          <p:cNvSpPr>
            <a:spLocks noGrp="1"/>
          </p:cNvSpPr>
          <p:nvPr>
            <p:ph type="ctrTitle"/>
          </p:nvPr>
        </p:nvSpPr>
        <p:spPr>
          <a:xfrm>
            <a:off x="618446" y="721986"/>
            <a:ext cx="8420100" cy="765908"/>
          </a:xfrm>
        </p:spPr>
        <p:txBody>
          <a:bodyPr/>
          <a:lstStyle/>
          <a:p>
            <a:pPr algn="l" eaLnBrk="1" hangingPunct="1">
              <a:defRPr/>
            </a:pPr>
            <a:r>
              <a:rPr lang="it-IT" sz="3200" cap="small" dirty="0">
                <a:latin typeface="Times New Roman" panose="02020603050405020304" pitchFamily="18" charset="0"/>
                <a:ea typeface="+mn-ea"/>
                <a:cs typeface="Times New Roman" panose="02020603050405020304" pitchFamily="18" charset="0"/>
              </a:rPr>
              <a:t>Conclusioni</a:t>
            </a:r>
          </a:p>
        </p:txBody>
      </p:sp>
      <p:pic>
        <p:nvPicPr>
          <p:cNvPr id="6" name="Picture 2" descr="Unife_nero JPG">
            <a:extLst>
              <a:ext uri="{FF2B5EF4-FFF2-40B4-BE49-F238E27FC236}">
                <a16:creationId xmlns:a16="http://schemas.microsoft.com/office/drawing/2014/main" id="{511CA342-D739-8845-B6C3-D7666B1978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8119" y="150777"/>
            <a:ext cx="1512415" cy="66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Immagine 6">
            <a:extLst>
              <a:ext uri="{FF2B5EF4-FFF2-40B4-BE49-F238E27FC236}">
                <a16:creationId xmlns:a16="http://schemas.microsoft.com/office/drawing/2014/main" id="{1C5655A8-6527-664D-85F1-70CC38867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1272" y="171860"/>
            <a:ext cx="2215221" cy="554666"/>
          </a:xfrm>
          <a:prstGeom prst="rect">
            <a:avLst/>
          </a:prstGeom>
        </p:spPr>
      </p:pic>
      <p:sp>
        <p:nvSpPr>
          <p:cNvPr id="3" name="CasellaDiTesto 2">
            <a:extLst>
              <a:ext uri="{FF2B5EF4-FFF2-40B4-BE49-F238E27FC236}">
                <a16:creationId xmlns:a16="http://schemas.microsoft.com/office/drawing/2014/main" id="{2BBF501A-5521-1947-830D-6CAA1440D9AE}"/>
              </a:ext>
            </a:extLst>
          </p:cNvPr>
          <p:cNvSpPr txBox="1"/>
          <p:nvPr/>
        </p:nvSpPr>
        <p:spPr>
          <a:xfrm>
            <a:off x="537815" y="1297735"/>
            <a:ext cx="8581361" cy="5909310"/>
          </a:xfrm>
          <a:prstGeom prst="rect">
            <a:avLst/>
          </a:prstGeom>
          <a:noFill/>
        </p:spPr>
        <p:txBody>
          <a:bodyPr wrap="square" rtlCol="0">
            <a:spAutoFit/>
          </a:bodyPr>
          <a:lstStyle/>
          <a:p>
            <a:pPr algn="just"/>
            <a:r>
              <a:rPr lang="it-IT" dirty="0">
                <a:latin typeface="Times New Roman" panose="02020603050405020304" pitchFamily="18" charset="0"/>
                <a:cs typeface="Times New Roman" panose="02020603050405020304" pitchFamily="18" charset="0"/>
              </a:rPr>
              <a:t>Le performance sui modelli custom superano di gran lunga quelle dei modelli addestrati con transfer </a:t>
            </a:r>
            <a:r>
              <a:rPr lang="it-IT" dirty="0" err="1">
                <a:latin typeface="Times New Roman" panose="02020603050405020304" pitchFamily="18" charset="0"/>
                <a:cs typeface="Times New Roman" panose="02020603050405020304" pitchFamily="18" charset="0"/>
              </a:rPr>
              <a:t>learning</a:t>
            </a:r>
            <a:r>
              <a:rPr lang="it-IT" dirty="0">
                <a:latin typeface="Times New Roman" panose="02020603050405020304" pitchFamily="18" charset="0"/>
                <a:cs typeface="Times New Roman" panose="02020603050405020304" pitchFamily="18" charset="0"/>
              </a:rPr>
              <a:t>, questo dipende da:</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Il </a:t>
            </a:r>
            <a:r>
              <a:rPr lang="it-IT" dirty="0" err="1">
                <a:latin typeface="Times New Roman" panose="02020603050405020304" pitchFamily="18" charset="0"/>
                <a:cs typeface="Times New Roman" panose="02020603050405020304" pitchFamily="18" charset="0"/>
              </a:rPr>
              <a:t>dataset</a:t>
            </a:r>
            <a:r>
              <a:rPr lang="it-IT" dirty="0">
                <a:latin typeface="Times New Roman" panose="02020603050405020304" pitchFamily="18" charset="0"/>
                <a:cs typeface="Times New Roman" panose="02020603050405020304" pitchFamily="18" charset="0"/>
              </a:rPr>
              <a:t> è più piccolo e sensibilmente diverso dal </a:t>
            </a:r>
            <a:r>
              <a:rPr lang="it-IT" dirty="0" err="1">
                <a:latin typeface="Times New Roman" panose="02020603050405020304" pitchFamily="18" charset="0"/>
                <a:cs typeface="Times New Roman" panose="02020603050405020304" pitchFamily="18" charset="0"/>
              </a:rPr>
              <a:t>dataset</a:t>
            </a:r>
            <a:r>
              <a:rPr lang="it-IT" dirty="0">
                <a:latin typeface="Times New Roman" panose="02020603050405020304" pitchFamily="18" charset="0"/>
                <a:cs typeface="Times New Roman" panose="02020603050405020304" pitchFamily="18" charset="0"/>
              </a:rPr>
              <a:t> di </a:t>
            </a:r>
            <a:r>
              <a:rPr lang="it-IT" dirty="0" err="1">
                <a:latin typeface="Times New Roman" panose="02020603050405020304" pitchFamily="18" charset="0"/>
                <a:cs typeface="Times New Roman" panose="02020603050405020304" pitchFamily="18" charset="0"/>
              </a:rPr>
              <a:t>pre</a:t>
            </a:r>
            <a:r>
              <a:rPr lang="it-IT" dirty="0">
                <a:latin typeface="Times New Roman" panose="02020603050405020304" pitchFamily="18" charset="0"/>
                <a:cs typeface="Times New Roman" panose="02020603050405020304" pitchFamily="18" charset="0"/>
              </a:rPr>
              <a:t>-addestramento.</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Viene effettuato il transfer learning dei soli strati </a:t>
            </a:r>
            <a:r>
              <a:rPr lang="it-IT" dirty="0" err="1">
                <a:latin typeface="Times New Roman" panose="02020603050405020304" pitchFamily="18" charset="0"/>
                <a:cs typeface="Times New Roman" panose="02020603050405020304" pitchFamily="18" charset="0"/>
              </a:rPr>
              <a:t>fully</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connected</a:t>
            </a:r>
            <a:r>
              <a:rPr lang="it-IT" dirty="0">
                <a:latin typeface="Times New Roman" panose="02020603050405020304" pitchFamily="18" charset="0"/>
                <a:cs typeface="Times New Roman" panose="02020603050405020304" pitchFamily="18" charset="0"/>
              </a:rPr>
              <a:t> dei modelli </a:t>
            </a:r>
            <a:r>
              <a:rPr lang="it-IT" dirty="0" err="1">
                <a:latin typeface="Times New Roman" panose="02020603050405020304" pitchFamily="18" charset="0"/>
                <a:cs typeface="Times New Roman" panose="02020603050405020304" pitchFamily="18" charset="0"/>
              </a:rPr>
              <a:t>pre</a:t>
            </a:r>
            <a:r>
              <a:rPr lang="it-IT" dirty="0">
                <a:latin typeface="Times New Roman" panose="02020603050405020304" pitchFamily="18" charset="0"/>
                <a:cs typeface="Times New Roman" panose="02020603050405020304" pitchFamily="18" charset="0"/>
              </a:rPr>
              <a:t>- addestrati, sarebbe opportuno riaddestrare anche alcuni dei </a:t>
            </a:r>
            <a:r>
              <a:rPr lang="it-IT" dirty="0" err="1">
                <a:latin typeface="Times New Roman" panose="02020603050405020304" pitchFamily="18" charset="0"/>
                <a:cs typeface="Times New Roman" panose="02020603050405020304" pitchFamily="18" charset="0"/>
              </a:rPr>
              <a:t>layer</a:t>
            </a:r>
            <a:r>
              <a:rPr lang="it-IT" dirty="0">
                <a:latin typeface="Times New Roman" panose="02020603050405020304" pitchFamily="18" charset="0"/>
                <a:cs typeface="Times New Roman" panose="02020603050405020304" pitchFamily="18" charset="0"/>
              </a:rPr>
              <a:t> </a:t>
            </a:r>
            <a:r>
              <a:rPr lang="it-IT" dirty="0" err="1">
                <a:latin typeface="Times New Roman" panose="02020603050405020304" pitchFamily="18" charset="0"/>
                <a:cs typeface="Times New Roman" panose="02020603050405020304" pitchFamily="18" charset="0"/>
              </a:rPr>
              <a:t>convoluzionali</a:t>
            </a:r>
            <a:r>
              <a:rPr lang="it-IT" dirty="0">
                <a:latin typeface="Times New Roman" panose="02020603050405020304" pitchFamily="18" charset="0"/>
                <a:cs typeface="Times New Roman" panose="02020603050405020304" pitchFamily="18" charset="0"/>
              </a:rPr>
              <a:t>, poiché rispetto ad </a:t>
            </a:r>
            <a:r>
              <a:rPr lang="it-IT" dirty="0" err="1">
                <a:latin typeface="Times New Roman" panose="02020603050405020304" pitchFamily="18" charset="0"/>
                <a:cs typeface="Times New Roman" panose="02020603050405020304" pitchFamily="18" charset="0"/>
              </a:rPr>
              <a:t>ImageNet</a:t>
            </a:r>
            <a:r>
              <a:rPr lang="it-IT" dirty="0">
                <a:latin typeface="Times New Roman" panose="02020603050405020304" pitchFamily="18" charset="0"/>
                <a:cs typeface="Times New Roman" panose="02020603050405020304" pitchFamily="18" charset="0"/>
              </a:rPr>
              <a:t> il dataset GTSRB è molto più ’’settoriale’’. Di conseguenza le </a:t>
            </a:r>
            <a:r>
              <a:rPr lang="it-IT" dirty="0" err="1">
                <a:latin typeface="Times New Roman" panose="02020603050405020304" pitchFamily="18" charset="0"/>
                <a:cs typeface="Times New Roman" panose="02020603050405020304" pitchFamily="18" charset="0"/>
              </a:rPr>
              <a:t>feature</a:t>
            </a:r>
            <a:r>
              <a:rPr lang="it-IT" dirty="0">
                <a:latin typeface="Times New Roman" panose="02020603050405020304" pitchFamily="18" charset="0"/>
                <a:cs typeface="Times New Roman" panose="02020603050405020304" pitchFamily="18" charset="0"/>
              </a:rPr>
              <a:t> non sono estratte nella maniera ottimale. Per motivi dovuti alla limitatezza dell’hardware utilizzato non è stato possibile realizzare quanto detto sopra.</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La dimensione di caricamento delle immagini è stata sensibilmente ridotta rispetto a quella richiesta dal modello standard, sempre per motivi dovuti alla limitatezza della memoria RAM.</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Il transfer learning non è ottimale poiché si verifica una tendenza all’</a:t>
            </a:r>
            <a:r>
              <a:rPr lang="it-IT" dirty="0" err="1">
                <a:latin typeface="Times New Roman" panose="02020603050405020304" pitchFamily="18" charset="0"/>
                <a:cs typeface="Times New Roman" panose="02020603050405020304" pitchFamily="18" charset="0"/>
              </a:rPr>
              <a:t>overfitting</a:t>
            </a:r>
            <a:r>
              <a:rPr lang="it-IT" dirty="0">
                <a:latin typeface="Times New Roman" panose="02020603050405020304" pitchFamily="18" charset="0"/>
                <a:cs typeface="Times New Roman" panose="02020603050405020304" pitchFamily="18" charset="0"/>
              </a:rPr>
              <a:t> per i modelli </a:t>
            </a:r>
            <a:r>
              <a:rPr lang="it-IT" dirty="0" err="1">
                <a:latin typeface="Times New Roman" panose="02020603050405020304" pitchFamily="18" charset="0"/>
                <a:cs typeface="Times New Roman" panose="02020603050405020304" pitchFamily="18" charset="0"/>
              </a:rPr>
              <a:t>pre</a:t>
            </a:r>
            <a:r>
              <a:rPr lang="it-IT" dirty="0">
                <a:latin typeface="Times New Roman" panose="02020603050405020304" pitchFamily="18" charset="0"/>
                <a:cs typeface="Times New Roman" panose="02020603050405020304" pitchFamily="18" charset="0"/>
              </a:rPr>
              <a:t>-addestrati. Sarebbero necessari ulteriori tentativi aumentando sensibilmente il numero di epoche di addestramento.</a:t>
            </a:r>
          </a:p>
          <a:p>
            <a:pPr marL="742950" lvl="1" indent="-285750" algn="just">
              <a:buFont typeface="Arial" panose="020B0604020202020204" pitchFamily="34" charset="0"/>
              <a:buChar char="•"/>
            </a:pPr>
            <a:r>
              <a:rPr lang="it-IT" dirty="0">
                <a:latin typeface="Times New Roman" panose="02020603050405020304" pitchFamily="18" charset="0"/>
                <a:cs typeface="Times New Roman" panose="02020603050405020304" pitchFamily="18" charset="0"/>
              </a:rPr>
              <a:t>Data </a:t>
            </a:r>
            <a:r>
              <a:rPr lang="it-IT" dirty="0" err="1">
                <a:latin typeface="Times New Roman" panose="02020603050405020304" pitchFamily="18" charset="0"/>
                <a:cs typeface="Times New Roman" panose="02020603050405020304" pitchFamily="18" charset="0"/>
              </a:rPr>
              <a:t>augmentation</a:t>
            </a:r>
            <a:r>
              <a:rPr lang="it-IT" dirty="0">
                <a:latin typeface="Times New Roman" panose="02020603050405020304" pitchFamily="18" charset="0"/>
                <a:cs typeface="Times New Roman" panose="02020603050405020304" pitchFamily="18" charset="0"/>
              </a:rPr>
              <a:t> non porta ad un significativo miglioramento delle performance poiché: la capacità del modello è prefissata e non variabile, non viene modificata la </a:t>
            </a:r>
            <a:r>
              <a:rPr lang="it-IT" dirty="0" err="1">
                <a:latin typeface="Times New Roman" panose="02020603050405020304" pitchFamily="18" charset="0"/>
                <a:cs typeface="Times New Roman" panose="02020603050405020304" pitchFamily="18" charset="0"/>
              </a:rPr>
              <a:t>distibuzione</a:t>
            </a:r>
            <a:r>
              <a:rPr lang="it-IT" dirty="0">
                <a:latin typeface="Times New Roman" panose="02020603050405020304" pitchFamily="18" charset="0"/>
                <a:cs typeface="Times New Roman" panose="02020603050405020304" pitchFamily="18" charset="0"/>
              </a:rPr>
              <a:t> del </a:t>
            </a:r>
            <a:r>
              <a:rPr lang="it-IT" dirty="0" err="1">
                <a:latin typeface="Times New Roman" panose="02020603050405020304" pitchFamily="18" charset="0"/>
                <a:cs typeface="Times New Roman" panose="02020603050405020304" pitchFamily="18" charset="0"/>
              </a:rPr>
              <a:t>dataset</a:t>
            </a:r>
            <a:r>
              <a:rPr lang="it-IT" dirty="0">
                <a:latin typeface="Times New Roman" panose="02020603050405020304" pitchFamily="18" charset="0"/>
                <a:cs typeface="Times New Roman" panose="02020603050405020304" pitchFamily="18" charset="0"/>
              </a:rPr>
              <a:t> che rimane sbilanciato.</a:t>
            </a:r>
          </a:p>
          <a:p>
            <a:pPr lvl="1" algn="just"/>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endParaRPr lang="it-IT"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909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p:cNvSpPr/>
          <p:nvPr/>
        </p:nvSpPr>
        <p:spPr>
          <a:xfrm>
            <a:off x="0" y="0"/>
            <a:ext cx="9906000" cy="6858000"/>
          </a:xfrm>
          <a:prstGeom prst="rect">
            <a:avLst/>
          </a:prstGeom>
          <a:solidFill>
            <a:srgbClr val="213D7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it-IT" sz="1350" b="0" i="0" u="none" strike="noStrike" kern="1200" cap="none" spc="0" normalizeH="0" baseline="0" noProof="0">
              <a:ln>
                <a:noFill/>
              </a:ln>
              <a:solidFill>
                <a:prstClr val="white"/>
              </a:solidFill>
              <a:effectLst/>
              <a:uLnTx/>
              <a:uFillTx/>
              <a:latin typeface="Calibri"/>
              <a:ea typeface="+mn-ea"/>
              <a:cs typeface="+mn-cs"/>
            </a:endParaRPr>
          </a:p>
        </p:txBody>
      </p:sp>
      <p:pic>
        <p:nvPicPr>
          <p:cNvPr id="2" name="Immagin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43004" y="2510775"/>
            <a:ext cx="4419992" cy="1836450"/>
          </a:xfrm>
          <a:prstGeom prst="rect">
            <a:avLst/>
          </a:prstGeom>
        </p:spPr>
      </p:pic>
    </p:spTree>
    <p:extLst>
      <p:ext uri="{BB962C8B-B14F-4D97-AF65-F5344CB8AC3E}">
        <p14:creationId xmlns:p14="http://schemas.microsoft.com/office/powerpoint/2010/main" val="1069725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651</TotalTime>
  <Words>2623</Words>
  <Application>Microsoft Office PowerPoint</Application>
  <PresentationFormat>A4 (21x29,7 cm)</PresentationFormat>
  <Paragraphs>171</Paragraphs>
  <Slides>30</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30</vt:i4>
      </vt:variant>
    </vt:vector>
  </HeadingPairs>
  <TitlesOfParts>
    <vt:vector size="35" baseType="lpstr">
      <vt:lpstr>Arial</vt:lpstr>
      <vt:lpstr>Calibri</vt:lpstr>
      <vt:lpstr>Cambria Math</vt:lpstr>
      <vt:lpstr>Times New Roman</vt:lpstr>
      <vt:lpstr>Tema di Office</vt:lpstr>
      <vt:lpstr>Presentazione standard di PowerPoint</vt:lpstr>
      <vt:lpstr>Presentazione standard di PowerPoint</vt:lpstr>
      <vt:lpstr>Obiettivi del progetto</vt:lpstr>
      <vt:lpstr>Analisi dataset</vt:lpstr>
      <vt:lpstr>Distribuzione training set</vt:lpstr>
      <vt:lpstr>Distribuzione test set</vt:lpstr>
      <vt:lpstr>Modularità del codice   (1/6)</vt:lpstr>
      <vt:lpstr>Modularità del codice   (2/6)</vt:lpstr>
      <vt:lpstr>Modularità del codice   (3/6)</vt:lpstr>
      <vt:lpstr>Modularità del codice   (5/6)</vt:lpstr>
      <vt:lpstr>Modularità del codice   (6/6)</vt:lpstr>
      <vt:lpstr>Metrica</vt:lpstr>
      <vt:lpstr>Modelli (1/3)   </vt:lpstr>
      <vt:lpstr>Modelli (2/3)  </vt:lpstr>
      <vt:lpstr>Modelli (3/3)  </vt:lpstr>
      <vt:lpstr>Link ai run </vt:lpstr>
      <vt:lpstr>Risultati MyNetwork (no data augmentation) </vt:lpstr>
      <vt:lpstr>Risultati MyNetwork  (data augmentation)</vt:lpstr>
      <vt:lpstr>Risultati MyNetwork Deeper (no data augmentation)</vt:lpstr>
      <vt:lpstr>Risultati MyNetwork Deeper (data augmentation)</vt:lpstr>
      <vt:lpstr>Risultati VGG16 (no data augmentation)</vt:lpstr>
      <vt:lpstr>Risultati VGG16 (data augmentation)</vt:lpstr>
      <vt:lpstr>Risultati VGG19 (no data augmentation)</vt:lpstr>
      <vt:lpstr>Risultati VGG19 (data augmentation)</vt:lpstr>
      <vt:lpstr>Risultati ResNet50V2 (no data augmentation)</vt:lpstr>
      <vt:lpstr>Risultati ResNet50V2 (data augmentation)</vt:lpstr>
      <vt:lpstr>Risultati InceptionV3 (no data augmentation)</vt:lpstr>
      <vt:lpstr>Risultati InceptionV3 (data augmentation)</vt:lpstr>
      <vt:lpstr>Conclusioni</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Computer_VM</dc:creator>
  <cp:lastModifiedBy>Bassani Matteo</cp:lastModifiedBy>
  <cp:revision>78</cp:revision>
  <cp:lastPrinted>2022-01-19T14:20:16Z</cp:lastPrinted>
  <dcterms:created xsi:type="dcterms:W3CDTF">2013-04-09T10:51:30Z</dcterms:created>
  <dcterms:modified xsi:type="dcterms:W3CDTF">2022-01-19T18:15:45Z</dcterms:modified>
</cp:coreProperties>
</file>